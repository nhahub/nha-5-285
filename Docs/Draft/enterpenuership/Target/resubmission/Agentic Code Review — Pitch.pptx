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 made writing software fast, but checking it has not kept up. Where AI use is high, a review takes about five times as long. And the checking rests on very few people: in half of the ten public projects we measured, three people did more than 85% of all the reviewing. They are the bottleneck. We built a reviewer that shows its evidence, so they can check each finding instead of taking it on trust, and we are here to ask for pilot teams, not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 made writing software cheap. What it produces looks flawless, like a report with perfect spelling and the wrong facts, so the people checking it can no longer tell where the problems are. The strain shows: where AI use is high, checking a change takes about five times as long, and nearly a third more changes go out with no check at all. These figures come from one vendor's study of 22,000 developers; they show a link, not a cause. If an example is asked for: one tech lead's first-hand account, of an AI-written change that used an old login system while every test passed and nothing in the change looked wrong. Three sources describe this kind of hidden mistake, and none measures how often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developer runs one command and reads the findings. This is a real pull request on Microsoft's Playwright, open when it was reviewed and since closed without merging: one commit, 169 lines added and 38 removed across 16 files. The command read it from GitHub by its address and reviewed the ten TypeScript and JavaScript files in about two minutes, clone included, in one model pass. What you see is built: the finding carries its location, its severity and the part of the diff it rests on, and the review says what it did not do, here that no checks ran, no related context was gathered, and nine of the ten files got no finding call. Evidence from the project's own tests and type-check, and from the project's own rules, is specified and not built; nothing is posted on the pull request yet, which comes in version 3. We have not confirmed the finding with Playwright's maintainers. The run was made from the project notebook, which makes the same call as the command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ceiling assumes every professional developer pays rivals' entry price; narrowed to TypeScript or JavaScript developers in pull-request teams who use AI tools, it is $2.0B–$4.0B, and about three quarters of them review code, who are the people we serve. Our own price, $22 a seat, is set just under the cheaper of those rivals, so for us the same people come to $9.6B and $1.8B to $2.9B. What we can obtain is counted from the bottom up, from the only customers we can name: six pilot teams of five are 30 seats, and we assume half of them go on to pay, which is 15 seats, or $3,960 a year. Later years wait for the pilot's result, because we do not yet know how many seats really pay or how many more teams we can reach. For scale, the category leader reaches about 0.4% of professional developers, and no open-source review Action has passed 460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command-line tool stays free; the hosted service is priced at $22 per developer a month, the average of two rivals' entry prices and $2 under CodeRabbit's. Serving a seat is estimated to cost us $1.14 to $5.81 a month, which is 25 to 75 reviews at five to eight cents each in model tokens and repository downloads, and that estimate doubles in January 2027 with our provider's prices. The hosted service is not designed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build milestones, not traction: the references record no user outside the team, no pilot and no letter of intent. On 2026-10-10 the first feature had 93 of its 127 tasks ticked, and we have measured review volume in ten public repositories and the cost of a review on two sizes of pull request. We cannot yet show that the tool catches code that does not fit its codebase, because the benchmark that measures a catch rate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Rivals verify more than our build does today: one writes and runs tests in a sandbox, another runs verification scripts, and ours makes one model pass. Our difference is narrower and it is built: a finding we cannot back is kept and labelled, where three of four rivals say they filter such findings out, and the review reports its own gaps. Price is a small difference, not the reason to choose us: $22 a seat is $2 under CodeRabbit, for a feature set of about its entry tier, a model that is likely noisier, and no measured catch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four junior software engineers, a senior Oracle developer and a sales manager, and Mohammed Gamal Kenawy leads the team. If asked: the repository's history shows one author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seat brings in $22 a month and is estimated to cost $1.14 to $5.81 to serve, for an average of 25 to 75 reviews, so it leaves $16 to $21. The always-on infrastructure is estimated at $96.36 a month with one small server, which five to six seats cover; that says nothing about paying the people who build it. We have no traction, so the forecast is theoretical: it applies the category leader's capital efficiency to each million dollars invested. CodeRabbit had raised just under $20 million when its yearly revenue was about $1.8 million, at the end of its second year, and $88 million when it was $25 million, at the end of its third; the revenue figures are Sacra's estimates. At our price that is about 313 seats and $82,500 a year for each million by year 2, and 986 seats and $260,400 by year 3. We have raised nothing and ask only $300 to run the pilot, so this is a benchmark, not a plan. If asked about heavy users: a seat includes 150 reviews a month, pooled across the team, which costs us an estimated $17.90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for $300 and six pilot teams. The teams run the tool on their real changes for eight weeks from 1 January 2027, and by 28 February 2027 we aim to have reviewed 1,000 pull requests, with reviewers acting on at least 20% of the findings; research puts that figure at 0.9% to 19.2% for AI review comments. The $300 covers the whole pilot: 1,000 reviews at about 8 cents each is $80, two months of always-on infrastructure at about $97 a month is $194, which makes $274; we round up to $300, leaving a $26 reserve. A pilot measures what our plan still leaves blank: pull requests per month, review time, current tools and spending, and willingness to pay, and it gives us our own cost per review from real changes. Repeat the ask in one sentence, then leave this slide on screen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181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5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5181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5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D"/>
        </a:solidFill>
      </p:bgPr>
    </p:bg>
    <p:spTree>
      <p:nvGrpSpPr>
        <p:cNvPr id="1" name=""/>
        <p:cNvGrpSpPr/>
        <p:nvPr/>
      </p:nvGrpSpPr>
      <p:grpSpPr>
        <a:xfrm>
          <a:off x="0" y="0"/>
          <a:ext cx="0" cy="0"/>
          <a:chOff x="0" y="0"/>
          <a:chExt cx="0" cy="0"/>
        </a:xfrm>
      </p:grpSpPr>
      <p:pic>
        <p:nvPicPr>
          <p:cNvPr id="2" name="Image 0" descr="Agentic Code Review logo, prototype">    </p:cNvPr>
          <p:cNvPicPr>
            <a:picLocks noChangeAspect="1"/>
          </p:cNvPicPr>
          <p:nvPr/>
        </p:nvPicPr>
        <p:blipFill>
          <a:blip r:embed="rId1"/>
          <a:srcRect l="0" r="0" t="0" b="0"/>
          <a:stretch/>
        </p:blipFill>
        <p:spPr>
          <a:xfrm>
            <a:off x="812800" y="812800"/>
            <a:ext cx="457200" cy="457200"/>
          </a:xfrm>
          <a:prstGeom prst="rect">
            <a:avLst/>
          </a:prstGeom>
        </p:spPr>
      </p:pic>
      <p:sp>
        <p:nvSpPr>
          <p:cNvPr id="3" name="Text 0"/>
          <p:cNvSpPr/>
          <p:nvPr/>
        </p:nvSpPr>
        <p:spPr>
          <a:xfrm>
            <a:off x="1422400" y="916940"/>
            <a:ext cx="2866644" cy="27432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5CC28E"/>
                </a:solidFill>
                <a:latin typeface="IBM Plex Mono" pitchFamily="49" charset="0"/>
                <a:ea typeface="IBM Plex Mono" pitchFamily="49" charset="-122"/>
                <a:cs typeface="IBM Plex Mono" pitchFamily="49" charset="-120"/>
              </a:rPr>
              <a:t>AGENTIC CODE REVIEW</a:t>
            </a:r>
            <a:endParaRPr lang="en-US" sz="1400" dirty="0"/>
          </a:p>
        </p:txBody>
      </p:sp>
      <p:sp>
        <p:nvSpPr>
          <p:cNvPr id="4" name="Text 1"/>
          <p:cNvSpPr/>
          <p:nvPr>
            <p:ph type="title"/>
          </p:nvPr>
        </p:nvSpPr>
        <p:spPr>
          <a:xfrm>
            <a:off x="812800" y="201676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2EC"/>
                </a:solidFill>
                <a:latin typeface="IBM Plex Sans" pitchFamily="34" charset="0"/>
                <a:ea typeface="IBM Plex Sans" pitchFamily="34" charset="-122"/>
                <a:cs typeface="IBM Plex Sans" pitchFamily="34" charset="-120"/>
              </a:rPr>
              <a:t>Review that shows</a:t>
            </a:r>
            <a:endParaRPr lang="en-US" sz="6000" dirty="0"/>
          </a:p>
          <a:p>
            <a:pPr algn="l" indent="0" marL="0">
              <a:lnSpc>
                <a:spcPts val="6300"/>
              </a:lnSpc>
              <a:buNone/>
            </a:pPr>
            <a:r>
              <a:rPr lang="en-US" sz="6000" b="1" i="0" dirty="0">
                <a:solidFill>
                  <a:srgbClr val="F4F2EC"/>
                </a:solidFill>
                <a:latin typeface="IBM Plex Sans" pitchFamily="34" charset="0"/>
                <a:ea typeface="IBM Plex Sans" pitchFamily="34" charset="-122"/>
                <a:cs typeface="IBM Plex Sans" pitchFamily="34" charset="-120"/>
              </a:rPr>
              <a:t>its evidence</a:t>
            </a:r>
            <a:endParaRPr lang="en-US" sz="6000" dirty="0"/>
          </a:p>
        </p:txBody>
      </p:sp>
      <p:sp>
        <p:nvSpPr>
          <p:cNvPr id="5" name="Text 2"/>
          <p:cNvSpPr/>
          <p:nvPr/>
        </p:nvSpPr>
        <p:spPr>
          <a:xfrm>
            <a:off x="812800" y="3870960"/>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C6BD"/>
                </a:solidFill>
                <a:latin typeface="IBM Plex Sans" pitchFamily="34" charset="0"/>
                <a:ea typeface="IBM Plex Sans" pitchFamily="34" charset="-122"/>
                <a:cs typeface="IBM Plex Sans" pitchFamily="34" charset="-120"/>
              </a:rPr>
              <a:t>We help reviewers catch AI-written software that looks right but isn't, by showing the evidence for every finding.</a:t>
            </a:r>
            <a:endParaRPr lang="en-US" sz="2000" dirty="0"/>
          </a:p>
        </p:txBody>
      </p:sp>
      <p:sp>
        <p:nvSpPr>
          <p:cNvPr id="6" name="Text 3"/>
          <p:cNvSpPr/>
          <p:nvPr/>
        </p:nvSpPr>
        <p:spPr>
          <a:xfrm>
            <a:off x="812800" y="5328920"/>
            <a:ext cx="5897721" cy="513080"/>
          </a:xfrm>
          <a:prstGeom prst="roundRect">
            <a:avLst>
              <a:gd name="adj" fmla="val 14851"/>
            </a:avLst>
          </a:prstGeom>
          <a:solidFill>
            <a:srgbClr val="F0A04B"/>
          </a:solidFill>
          <a:ln/>
        </p:spPr>
        <p:txBody>
          <a:bodyPr wrap="none" lIns="0" tIns="0" rIns="0" bIns="0" rtlCol="0" anchor="ctr">
            <a:normAutofit/>
          </a:bodyPr>
          <a:lstStyle/>
          <a:p>
            <a:pPr algn="ctr" indent="0" marL="0">
              <a:lnSpc>
                <a:spcPts val="2240"/>
              </a:lnSpc>
              <a:buNone/>
            </a:pPr>
            <a:r>
              <a:rPr lang="en-US" sz="1600" b="1" dirty="0">
                <a:solidFill>
                  <a:srgbClr val="15181D"/>
                </a:solidFill>
                <a:latin typeface="IBM Plex Sans" pitchFamily="34" charset="0"/>
                <a:ea typeface="IBM Plex Sans" pitchFamily="34" charset="-122"/>
                <a:cs typeface="IBM Plex Sans" pitchFamily="34" charset="-120"/>
              </a:rPr>
              <a:t>The ask: 6 teams for an 8-week pilot, from 1 January 2027</a:t>
            </a:r>
            <a:endParaRPr lang="en-US" sz="1600" dirty="0"/>
          </a:p>
        </p:txBody>
      </p:sp>
      <p:sp>
        <p:nvSpPr>
          <p:cNvPr id="7" name="Text 4"/>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Mono" pitchFamily="49" charset="0"/>
                <a:ea typeface="IBM Plex Mono" pitchFamily="49" charset="-122"/>
                <a:cs typeface="IBM Plex Mono" pitchFamily="49" charset="-120"/>
              </a:rPr>
              <a:t>DEPI final pitch · draft 3 · logo is a prototype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53416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Cheap to write.</a:t>
            </a:r>
            <a:endParaRPr lang="en-US" sz="3600" dirty="0"/>
          </a:p>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Flawless to look at.</a:t>
            </a:r>
            <a:endParaRPr lang="en-US" sz="3600" dirty="0"/>
          </a:p>
          <a:p>
            <a:pPr algn="l" indent="0" marL="0">
              <a:lnSpc>
                <a:spcPts val="3960"/>
              </a:lnSpc>
              <a:buNone/>
            </a:pPr>
            <a:r>
              <a:rPr lang="en-US" sz="3600" b="1" i="0" dirty="0">
                <a:solidFill>
                  <a:srgbClr val="B4561A"/>
                </a:solidFill>
                <a:latin typeface="IBM Plex Sans" pitchFamily="34" charset="0"/>
                <a:ea typeface="IBM Plex Sans" pitchFamily="34" charset="-122"/>
                <a:cs typeface="IBM Plex Sans" pitchFamily="34" charset="-120"/>
              </a:rPr>
              <a:t>Five times as long to check.</a:t>
            </a:r>
            <a:endParaRPr lang="en-US" sz="3600" dirty="0"/>
          </a:p>
        </p:txBody>
      </p:sp>
      <p:sp>
        <p:nvSpPr>
          <p:cNvPr id="3" name="Text 1"/>
          <p:cNvSpPr/>
          <p:nvPr/>
        </p:nvSpPr>
        <p:spPr>
          <a:xfrm>
            <a:off x="812800" y="272796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D6470"/>
                </a:solidFill>
                <a:latin typeface="IBM Plex Sans" pitchFamily="34" charset="0"/>
                <a:ea typeface="IBM Plex Sans" pitchFamily="34" charset="-122"/>
                <a:cs typeface="IBM Plex Sans" pitchFamily="34" charset="-120"/>
              </a:rPr>
              <a:t>Where AI use is high:</a:t>
            </a:r>
            <a:endParaRPr lang="en-US" sz="1600" dirty="0"/>
          </a:p>
        </p:txBody>
      </p:sp>
      <p:sp>
        <p:nvSpPr>
          <p:cNvPr id="4" name="Shape 2"/>
          <p:cNvSpPr/>
          <p:nvPr/>
        </p:nvSpPr>
        <p:spPr>
          <a:xfrm>
            <a:off x="815975" y="3168015"/>
            <a:ext cx="5124450" cy="2061210"/>
          </a:xfrm>
          <a:prstGeom prst="roundRect">
            <a:avLst>
              <a:gd name="adj" fmla="val 4775"/>
            </a:avLst>
          </a:prstGeom>
          <a:solidFill>
            <a:srgbClr val="FBFAF6"/>
          </a:solidFill>
          <a:ln w="6350">
            <a:solidFill>
              <a:srgbClr val="DDD9CF"/>
            </a:solidFill>
            <a:prstDash val="solid"/>
          </a:ln>
        </p:spPr>
      </p:sp>
      <p:sp>
        <p:nvSpPr>
          <p:cNvPr id="5" name="Text 3"/>
          <p:cNvSpPr/>
          <p:nvPr/>
        </p:nvSpPr>
        <p:spPr>
          <a:xfrm>
            <a:off x="1122680" y="3474720"/>
            <a:ext cx="4646371"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B4561A"/>
                </a:solidFill>
                <a:latin typeface="IBM Plex Sans" pitchFamily="34" charset="0"/>
                <a:ea typeface="IBM Plex Sans" pitchFamily="34" charset="-122"/>
                <a:cs typeface="IBM Plex Sans" pitchFamily="34" charset="-120"/>
              </a:rPr>
              <a:t>≈5×</a:t>
            </a:r>
            <a:endParaRPr lang="en-US" sz="8000" dirty="0"/>
          </a:p>
        </p:txBody>
      </p:sp>
      <p:sp>
        <p:nvSpPr>
          <p:cNvPr id="6" name="Text 4"/>
          <p:cNvSpPr/>
          <p:nvPr/>
        </p:nvSpPr>
        <p:spPr>
          <a:xfrm>
            <a:off x="1122680" y="4592320"/>
            <a:ext cx="4646371"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5181D"/>
                </a:solidFill>
                <a:latin typeface="IBM Plex Sans" pitchFamily="34" charset="0"/>
                <a:ea typeface="IBM Plex Sans" pitchFamily="34" charset="-122"/>
                <a:cs typeface="IBM Plex Sans" pitchFamily="34" charset="-120"/>
              </a:rPr>
              <a:t>as long to review a change</a:t>
            </a:r>
            <a:endParaRPr lang="en-US" sz="2000" dirty="0"/>
          </a:p>
        </p:txBody>
      </p:sp>
      <p:sp>
        <p:nvSpPr>
          <p:cNvPr id="7" name="Shape 5"/>
          <p:cNvSpPr/>
          <p:nvPr/>
        </p:nvSpPr>
        <p:spPr>
          <a:xfrm>
            <a:off x="6251575" y="3168015"/>
            <a:ext cx="5124450" cy="2061210"/>
          </a:xfrm>
          <a:prstGeom prst="roundRect">
            <a:avLst>
              <a:gd name="adj" fmla="val 4775"/>
            </a:avLst>
          </a:prstGeom>
          <a:solidFill>
            <a:srgbClr val="FBFAF6"/>
          </a:solidFill>
          <a:ln w="6350">
            <a:solidFill>
              <a:srgbClr val="DDD9CF"/>
            </a:solidFill>
            <a:prstDash val="solid"/>
          </a:ln>
        </p:spPr>
      </p:sp>
      <p:sp>
        <p:nvSpPr>
          <p:cNvPr id="8" name="Text 6"/>
          <p:cNvSpPr/>
          <p:nvPr/>
        </p:nvSpPr>
        <p:spPr>
          <a:xfrm>
            <a:off x="6558280" y="3474720"/>
            <a:ext cx="4646371"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B4561A"/>
                </a:solidFill>
                <a:latin typeface="IBM Plex Sans" pitchFamily="34" charset="0"/>
                <a:ea typeface="IBM Plex Sans" pitchFamily="34" charset="-122"/>
                <a:cs typeface="IBM Plex Sans" pitchFamily="34" charset="-120"/>
              </a:rPr>
              <a:t>+31%</a:t>
            </a:r>
            <a:endParaRPr lang="en-US" sz="8000" dirty="0"/>
          </a:p>
        </p:txBody>
      </p:sp>
      <p:sp>
        <p:nvSpPr>
          <p:cNvPr id="9" name="Text 7"/>
          <p:cNvSpPr/>
          <p:nvPr/>
        </p:nvSpPr>
        <p:spPr>
          <a:xfrm>
            <a:off x="6558280" y="4592320"/>
            <a:ext cx="4646371"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5181D"/>
                </a:solidFill>
                <a:latin typeface="IBM Plex Sans" pitchFamily="34" charset="0"/>
                <a:ea typeface="IBM Plex Sans" pitchFamily="34" charset="-122"/>
                <a:cs typeface="IBM Plex Sans" pitchFamily="34" charset="-120"/>
              </a:rPr>
              <a:t>more changes go out with no review</a:t>
            </a:r>
            <a:endParaRPr lang="en-US" sz="2000" dirty="0"/>
          </a:p>
        </p:txBody>
      </p:sp>
      <p:sp>
        <p:nvSpPr>
          <p:cNvPr id="10" name="Text 8"/>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Faros AI, 22,000 developers, via O'Reilly: review time +441.5%, unreviewed merges +31.3%. Vendor data; a link, not a cause.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Run 2026-10-09; the finding is unconfirmed by maintainers. Next: the project's own tests and rules as evidence (specified, not built).</a:t>
            </a:r>
            <a:endParaRPr lang="en-US" sz="1200" dirty="0"/>
          </a:p>
        </p:txBody>
      </p:sp>
      <p:sp>
        <p:nvSpPr>
          <p:cNvPr id="3" name="Text 1"/>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Every finding shows its evidence</a:t>
            </a:r>
            <a:endParaRPr lang="en-US" sz="3600" dirty="0"/>
          </a:p>
        </p:txBody>
      </p:sp>
      <p:sp>
        <p:nvSpPr>
          <p:cNvPr id="4" name="Text 2"/>
          <p:cNvSpPr/>
          <p:nvPr/>
        </p:nvSpPr>
        <p:spPr>
          <a:xfrm>
            <a:off x="812800" y="1466850"/>
            <a:ext cx="10566400" cy="469900"/>
          </a:xfrm>
          <a:prstGeom prst="roundRect">
            <a:avLst>
              <a:gd name="adj" fmla="val 18919"/>
            </a:avLst>
          </a:prstGeom>
          <a:solidFill>
            <a:srgbClr val="15181D"/>
          </a:solidFill>
          <a:ln/>
        </p:spPr>
        <p:txBody>
          <a:bodyPr wrap="none" lIns="177162" tIns="100962" rIns="177162" bIns="75562" rtlCol="0" anchor="t">
            <a:normAutofit/>
          </a:bodyPr>
          <a:lstStyle/>
          <a:p>
            <a:pPr algn="l" indent="0" marL="0">
              <a:lnSpc>
                <a:spcPts val="1680"/>
              </a:lnSpc>
              <a:buNone/>
            </a:pPr>
            <a:r>
              <a:rPr lang="en-US" sz="1400" dirty="0">
                <a:solidFill>
                  <a:srgbClr val="5CC28E"/>
                </a:solidFill>
                <a:latin typeface="IBM Plex Mono" pitchFamily="49" charset="0"/>
                <a:ea typeface="IBM Plex Mono" pitchFamily="49" charset="-122"/>
                <a:cs typeface="IBM Plex Mono" pitchFamily="49" charset="-120"/>
              </a:rPr>
              <a:t>$</a:t>
            </a:r>
            <a:r>
              <a:rPr lang="en-US" sz="1400" dirty="0">
                <a:solidFill>
                  <a:srgbClr val="F4F2EC"/>
                </a:solidFill>
                <a:latin typeface="IBM Plex Mono" pitchFamily="49" charset="0"/>
                <a:ea typeface="IBM Plex Mono" pitchFamily="49" charset="-122"/>
                <a:cs typeface="IBM Plex Mono" pitchFamily="49" charset="-120"/>
              </a:rPr>
              <a:t> agentic-review review --pr https://github.com/microsoft/playwright/pull/43199</a:t>
            </a:r>
            <a:endParaRPr lang="en-US" sz="1400" dirty="0"/>
          </a:p>
        </p:txBody>
      </p:sp>
      <p:sp>
        <p:nvSpPr>
          <p:cNvPr id="5" name="Text 3"/>
          <p:cNvSpPr/>
          <p:nvPr/>
        </p:nvSpPr>
        <p:spPr>
          <a:xfrm>
            <a:off x="812800" y="2089150"/>
            <a:ext cx="4578350"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5D6470"/>
                </a:solidFill>
                <a:latin typeface="IBM Plex Mono" pitchFamily="49" charset="0"/>
                <a:ea typeface="IBM Plex Mono" pitchFamily="49" charset="-122"/>
                <a:cs typeface="IBM Plex Mono" pitchFamily="49" charset="-120"/>
              </a:rPr>
              <a:t>INPUT · THE PULL REQUEST ON GITHUB</a:t>
            </a:r>
            <a:endParaRPr lang="en-US" sz="1200" dirty="0"/>
          </a:p>
        </p:txBody>
      </p:sp>
      <p:sp>
        <p:nvSpPr>
          <p:cNvPr id="6" name="Shape 4"/>
          <p:cNvSpPr/>
          <p:nvPr/>
        </p:nvSpPr>
        <p:spPr>
          <a:xfrm>
            <a:off x="812800" y="2348230"/>
            <a:ext cx="4445000" cy="1816100"/>
          </a:xfrm>
          <a:prstGeom prst="roundRect">
            <a:avLst>
              <a:gd name="adj" fmla="val 4196"/>
            </a:avLst>
          </a:prstGeom>
          <a:solidFill>
            <a:srgbClr val="FFFFFF"/>
          </a:solidFill>
          <a:ln/>
        </p:spPr>
      </p:sp>
      <p:pic>
        <p:nvPicPr>
          <p:cNvPr id="7" name="Image 0" descr="The open pull request on GitHub: fix(core): make playwright-core bundlable into a single file, number 43199, with its summary">    </p:cNvPr>
          <p:cNvPicPr>
            <a:picLocks noChangeAspect="1"/>
          </p:cNvPicPr>
          <p:nvPr/>
        </p:nvPicPr>
        <p:blipFill>
          <a:blip r:embed="rId1"/>
          <a:srcRect l="-201" r="-201" t="0" b="0"/>
          <a:stretch/>
        </p:blipFill>
        <p:spPr>
          <a:xfrm>
            <a:off x="819150" y="2354580"/>
            <a:ext cx="4432300" cy="1803400"/>
          </a:xfrm>
          <a:prstGeom prst="roundRect">
            <a:avLst>
              <a:gd name="adj" fmla="val 3873"/>
            </a:avLst>
          </a:prstGeom>
        </p:spPr>
      </p:pic>
      <p:sp>
        <p:nvSpPr>
          <p:cNvPr id="8" name="Shape 5"/>
          <p:cNvSpPr/>
          <p:nvPr/>
        </p:nvSpPr>
        <p:spPr>
          <a:xfrm>
            <a:off x="815975" y="2351405"/>
            <a:ext cx="4438650" cy="1809750"/>
          </a:xfrm>
          <a:prstGeom prst="roundRect">
            <a:avLst>
              <a:gd name="adj" fmla="val 4035"/>
            </a:avLst>
          </a:prstGeom>
          <a:noFill/>
          <a:ln w="6350">
            <a:solidFill>
              <a:srgbClr val="DDD9CF"/>
            </a:solidFill>
            <a:prstDash val="solid"/>
          </a:ln>
        </p:spPr>
      </p:sp>
      <p:sp>
        <p:nvSpPr>
          <p:cNvPr id="9" name="Shape 6"/>
          <p:cNvSpPr/>
          <p:nvPr/>
        </p:nvSpPr>
        <p:spPr>
          <a:xfrm>
            <a:off x="812800" y="4240530"/>
            <a:ext cx="4445000" cy="1435100"/>
          </a:xfrm>
          <a:prstGeom prst="roundRect">
            <a:avLst>
              <a:gd name="adj" fmla="val 5310"/>
            </a:avLst>
          </a:prstGeom>
          <a:solidFill>
            <a:srgbClr val="FFFFFF"/>
          </a:solidFill>
          <a:ln/>
        </p:spPr>
      </p:sp>
      <p:pic>
        <p:nvPicPr>
          <p:cNvPr id="10" name="Image 1" descr="GitHub's diff view of the pull request: showing 16 changed files with 169 additions and 38 deletions">    </p:cNvPr>
          <p:cNvPicPr>
            <a:picLocks noChangeAspect="1"/>
          </p:cNvPicPr>
          <p:nvPr/>
        </p:nvPicPr>
        <p:blipFill>
          <a:blip r:embed="rId2"/>
          <a:srcRect l="-259" r="-259" t="0" b="0"/>
          <a:stretch/>
        </p:blipFill>
        <p:spPr>
          <a:xfrm>
            <a:off x="819150" y="4246880"/>
            <a:ext cx="4432300" cy="1422400"/>
          </a:xfrm>
          <a:prstGeom prst="roundRect">
            <a:avLst>
              <a:gd name="adj" fmla="val 4911"/>
            </a:avLst>
          </a:prstGeom>
        </p:spPr>
      </p:pic>
      <p:sp>
        <p:nvSpPr>
          <p:cNvPr id="11" name="Shape 7"/>
          <p:cNvSpPr/>
          <p:nvPr/>
        </p:nvSpPr>
        <p:spPr>
          <a:xfrm>
            <a:off x="815975" y="4243705"/>
            <a:ext cx="4438650" cy="1428750"/>
          </a:xfrm>
          <a:prstGeom prst="roundRect">
            <a:avLst>
              <a:gd name="adj" fmla="val 5111"/>
            </a:avLst>
          </a:prstGeom>
          <a:noFill/>
          <a:ln w="6350">
            <a:solidFill>
              <a:srgbClr val="DDD9CF"/>
            </a:solidFill>
            <a:prstDash val="solid"/>
          </a:ln>
        </p:spPr>
      </p:sp>
      <p:pic>
        <p:nvPicPr>
          <p:cNvPr id="12" name="Image 2" descr="arrow-right">    </p:cNvPr>
          <p:cNvPicPr>
            <a:picLocks noChangeAspect="1"/>
          </p:cNvPicPr>
          <p:nvPr/>
        </p:nvPicPr>
        <p:blipFill>
          <a:blip r:embed="rId3"/>
          <a:srcRect l="0" r="0" t="0" b="0"/>
          <a:stretch/>
        </p:blipFill>
        <p:spPr>
          <a:xfrm>
            <a:off x="5410200" y="3794125"/>
            <a:ext cx="355600" cy="177800"/>
          </a:xfrm>
          <a:prstGeom prst="rect">
            <a:avLst/>
          </a:prstGeom>
        </p:spPr>
      </p:pic>
      <p:sp>
        <p:nvSpPr>
          <p:cNvPr id="13" name="Text 8"/>
          <p:cNvSpPr/>
          <p:nvPr/>
        </p:nvSpPr>
        <p:spPr>
          <a:xfrm>
            <a:off x="5918200" y="2089150"/>
            <a:ext cx="5624830"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5D6470"/>
                </a:solidFill>
                <a:latin typeface="IBM Plex Mono" pitchFamily="49" charset="0"/>
                <a:ea typeface="IBM Plex Mono" pitchFamily="49" charset="-122"/>
                <a:cs typeface="IBM Plex Mono" pitchFamily="49" charset="-120"/>
              </a:rPr>
              <a:t>OUTPUT · WHAT THE TOOL REPORTED</a:t>
            </a:r>
            <a:endParaRPr lang="en-US" sz="1200" dirty="0"/>
          </a:p>
        </p:txBody>
      </p:sp>
      <p:sp>
        <p:nvSpPr>
          <p:cNvPr id="14" name="Shape 9"/>
          <p:cNvSpPr/>
          <p:nvPr/>
        </p:nvSpPr>
        <p:spPr>
          <a:xfrm>
            <a:off x="5921375" y="2364105"/>
            <a:ext cx="855980" cy="405130"/>
          </a:xfrm>
          <a:prstGeom prst="roundRect">
            <a:avLst>
              <a:gd name="adj" fmla="val 18025"/>
            </a:avLst>
          </a:prstGeom>
          <a:solidFill>
            <a:srgbClr val="FBFAF6"/>
          </a:solidFill>
          <a:ln w="6350">
            <a:solidFill>
              <a:srgbClr val="DDD9CF"/>
            </a:solidFill>
            <a:prstDash val="solid"/>
          </a:ln>
        </p:spPr>
      </p:sp>
      <p:sp>
        <p:nvSpPr>
          <p:cNvPr id="15" name="Text 10"/>
          <p:cNvSpPr/>
          <p:nvPr/>
        </p:nvSpPr>
        <p:spPr>
          <a:xfrm>
            <a:off x="6037580" y="2429511"/>
            <a:ext cx="3291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D"/>
                </a:solidFill>
                <a:latin typeface="IBM Plex Sans" pitchFamily="34" charset="0"/>
                <a:ea typeface="IBM Plex Sans" pitchFamily="34" charset="-122"/>
                <a:cs typeface="IBM Plex Sans" pitchFamily="34" charset="-120"/>
              </a:rPr>
              <a:t>16</a:t>
            </a:r>
            <a:endParaRPr lang="en-US" sz="1800" dirty="0"/>
          </a:p>
        </p:txBody>
      </p:sp>
      <p:sp>
        <p:nvSpPr>
          <p:cNvPr id="16" name="Text 11"/>
          <p:cNvSpPr/>
          <p:nvPr/>
        </p:nvSpPr>
        <p:spPr>
          <a:xfrm>
            <a:off x="6375400" y="2505711"/>
            <a:ext cx="3429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B4250"/>
                </a:solidFill>
                <a:latin typeface="IBM Plex Sans" pitchFamily="34" charset="0"/>
                <a:ea typeface="IBM Plex Sans" pitchFamily="34" charset="-122"/>
                <a:cs typeface="IBM Plex Sans" pitchFamily="34" charset="-120"/>
              </a:rPr>
              <a:t>files</a:t>
            </a:r>
            <a:endParaRPr lang="en-US" sz="1200" dirty="0"/>
          </a:p>
        </p:txBody>
      </p:sp>
      <p:sp>
        <p:nvSpPr>
          <p:cNvPr id="17" name="Shape 12"/>
          <p:cNvSpPr/>
          <p:nvPr/>
        </p:nvSpPr>
        <p:spPr>
          <a:xfrm>
            <a:off x="6859905" y="2364105"/>
            <a:ext cx="1192213" cy="405130"/>
          </a:xfrm>
          <a:prstGeom prst="roundRect">
            <a:avLst>
              <a:gd name="adj" fmla="val 18025"/>
            </a:avLst>
          </a:prstGeom>
          <a:solidFill>
            <a:srgbClr val="FBFAF6"/>
          </a:solidFill>
          <a:ln w="6350">
            <a:solidFill>
              <a:srgbClr val="DDD9CF"/>
            </a:solidFill>
            <a:prstDash val="solid"/>
          </a:ln>
        </p:spPr>
      </p:sp>
      <p:sp>
        <p:nvSpPr>
          <p:cNvPr id="18" name="Text 13"/>
          <p:cNvSpPr/>
          <p:nvPr/>
        </p:nvSpPr>
        <p:spPr>
          <a:xfrm>
            <a:off x="6976110" y="2429511"/>
            <a:ext cx="3291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7A4C"/>
                </a:solidFill>
                <a:latin typeface="IBM Plex Sans" pitchFamily="34" charset="0"/>
                <a:ea typeface="IBM Plex Sans" pitchFamily="34" charset="-122"/>
                <a:cs typeface="IBM Plex Sans" pitchFamily="34" charset="-120"/>
              </a:rPr>
              <a:t>10</a:t>
            </a:r>
            <a:endParaRPr lang="en-US" sz="1800" dirty="0"/>
          </a:p>
        </p:txBody>
      </p:sp>
      <p:sp>
        <p:nvSpPr>
          <p:cNvPr id="19" name="Text 14"/>
          <p:cNvSpPr/>
          <p:nvPr/>
        </p:nvSpPr>
        <p:spPr>
          <a:xfrm>
            <a:off x="7313930" y="2505711"/>
            <a:ext cx="735013"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B4250"/>
                </a:solidFill>
                <a:latin typeface="IBM Plex Sans" pitchFamily="34" charset="0"/>
                <a:ea typeface="IBM Plex Sans" pitchFamily="34" charset="-122"/>
                <a:cs typeface="IBM Plex Sans" pitchFamily="34" charset="-120"/>
              </a:rPr>
              <a:t>reviewed</a:t>
            </a:r>
            <a:endParaRPr lang="en-US" sz="1200" dirty="0"/>
          </a:p>
        </p:txBody>
      </p:sp>
      <p:sp>
        <p:nvSpPr>
          <p:cNvPr id="20" name="Shape 15"/>
          <p:cNvSpPr/>
          <p:nvPr/>
        </p:nvSpPr>
        <p:spPr>
          <a:xfrm>
            <a:off x="8134668" y="2364105"/>
            <a:ext cx="1771491" cy="405130"/>
          </a:xfrm>
          <a:prstGeom prst="roundRect">
            <a:avLst>
              <a:gd name="adj" fmla="val 18025"/>
            </a:avLst>
          </a:prstGeom>
          <a:solidFill>
            <a:srgbClr val="FBFAF6"/>
          </a:solidFill>
          <a:ln w="6350">
            <a:solidFill>
              <a:srgbClr val="DDD9CF"/>
            </a:solidFill>
            <a:prstDash val="solid"/>
          </a:ln>
        </p:spPr>
      </p:sp>
      <p:sp>
        <p:nvSpPr>
          <p:cNvPr id="21" name="Text 16"/>
          <p:cNvSpPr/>
          <p:nvPr/>
        </p:nvSpPr>
        <p:spPr>
          <a:xfrm>
            <a:off x="8250872" y="2429511"/>
            <a:ext cx="1879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5D6470"/>
                </a:solidFill>
                <a:latin typeface="IBM Plex Sans" pitchFamily="34" charset="0"/>
                <a:ea typeface="IBM Plex Sans" pitchFamily="34" charset="-122"/>
                <a:cs typeface="IBM Plex Sans" pitchFamily="34" charset="-120"/>
              </a:rPr>
              <a:t>6</a:t>
            </a:r>
            <a:endParaRPr lang="en-US" sz="1800" dirty="0"/>
          </a:p>
        </p:txBody>
      </p:sp>
      <p:sp>
        <p:nvSpPr>
          <p:cNvPr id="22" name="Text 17"/>
          <p:cNvSpPr/>
          <p:nvPr/>
        </p:nvSpPr>
        <p:spPr>
          <a:xfrm>
            <a:off x="8451533" y="2505711"/>
            <a:ext cx="1451451"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B4250"/>
                </a:solidFill>
                <a:latin typeface="IBM Plex Sans" pitchFamily="34" charset="0"/>
                <a:ea typeface="IBM Plex Sans" pitchFamily="34" charset="-122"/>
                <a:cs typeface="IBM Plex Sans" pitchFamily="34" charset="-120"/>
              </a:rPr>
              <a:t>listed, not reviewed</a:t>
            </a:r>
            <a:endParaRPr lang="en-US" sz="1200" dirty="0"/>
          </a:p>
        </p:txBody>
      </p:sp>
      <p:sp>
        <p:nvSpPr>
          <p:cNvPr id="23" name="Shape 18"/>
          <p:cNvSpPr/>
          <p:nvPr/>
        </p:nvSpPr>
        <p:spPr>
          <a:xfrm>
            <a:off x="5921375" y="2864486"/>
            <a:ext cx="5454650" cy="1394460"/>
          </a:xfrm>
          <a:prstGeom prst="roundRect">
            <a:avLst>
              <a:gd name="adj" fmla="val 6148"/>
            </a:avLst>
          </a:prstGeom>
          <a:solidFill>
            <a:srgbClr val="FBFAF6"/>
          </a:solidFill>
          <a:ln w="6350">
            <a:solidFill>
              <a:srgbClr val="DDD9CF"/>
            </a:solidFill>
            <a:prstDash val="solid"/>
          </a:ln>
        </p:spPr>
      </p:sp>
      <p:sp>
        <p:nvSpPr>
          <p:cNvPr id="24" name="Shape 19"/>
          <p:cNvSpPr/>
          <p:nvPr/>
        </p:nvSpPr>
        <p:spPr>
          <a:xfrm>
            <a:off x="5923280" y="2866391"/>
            <a:ext cx="63500" cy="1390650"/>
          </a:xfrm>
          <a:custGeom>
            <a:avLst/>
            <a:gdLst/>
            <a:ahLst/>
            <a:cxnLst/>
            <a:rect l="l" t="t" r="r" b="b"/>
            <a:pathLst>
              <a:path w="63500" h="1390650">
                <a:moveTo>
                  <a:pt x="0" y="83820"/>
                </a:moveTo>
                <a:arcTo hR="83820" wR="83820" stAng="10800000" swAng="4558220"/>
                <a:lnTo>
                  <a:pt x="63500" y="1388150"/>
                </a:lnTo>
                <a:arcTo hR="83820" wR="83820" stAng="6241780" swAng="4558220"/>
                <a:close/>
              </a:path>
            </a:pathLst>
          </a:custGeom>
          <a:solidFill>
            <a:srgbClr val="5D6470"/>
          </a:solidFill>
          <a:ln/>
        </p:spPr>
      </p:sp>
      <p:sp>
        <p:nvSpPr>
          <p:cNvPr id="25" name="Text 20"/>
          <p:cNvSpPr/>
          <p:nvPr/>
        </p:nvSpPr>
        <p:spPr>
          <a:xfrm>
            <a:off x="6126480" y="2980691"/>
            <a:ext cx="366395" cy="233680"/>
          </a:xfrm>
          <a:custGeom>
            <a:avLst/>
            <a:gdLst/>
            <a:ahLst/>
            <a:cxnLst/>
            <a:rect l="l" t="t" r="r" b="b"/>
            <a:pathLst>
              <a:path w="366395" h="233680">
                <a:moveTo>
                  <a:pt x="116840" y="0"/>
                </a:moveTo>
                <a:lnTo>
                  <a:pt x="249555" y="0"/>
                </a:lnTo>
                <a:arcTo hR="116840" wR="116840" stAng="16200000" swAng="5400000"/>
                <a:lnTo>
                  <a:pt x="366395" y="116840"/>
                </a:lnTo>
                <a:arcTo hR="116840" wR="116840" stAng="0" swAng="5400000"/>
                <a:lnTo>
                  <a:pt x="116840" y="233680"/>
                </a:lnTo>
                <a:arcTo hR="116840" wR="116840" stAng="5400000" swAng="5400000"/>
                <a:lnTo>
                  <a:pt x="0" y="116840"/>
                </a:lnTo>
                <a:arcTo hR="116840" wR="116840" stAng="10800000" swAng="5400000"/>
                <a:close/>
              </a:path>
            </a:pathLst>
          </a:custGeom>
          <a:solidFill>
            <a:srgbClr val="E4E1D8"/>
          </a:solidFill>
          <a:ln/>
        </p:spPr>
        <p:txBody>
          <a:bodyPr wrap="none" lIns="0" tIns="0" rIns="0" bIns="0" rtlCol="0" anchor="ctr">
            <a:normAutofit/>
          </a:bodyPr>
          <a:lstStyle/>
          <a:p>
            <a:pPr algn="ctr" indent="0" marL="0">
              <a:lnSpc>
                <a:spcPts val="1440"/>
              </a:lnSpc>
              <a:buNone/>
            </a:pPr>
            <a:r>
              <a:rPr lang="en-US" sz="1200" b="1" dirty="0">
                <a:solidFill>
                  <a:srgbClr val="3B4250"/>
                </a:solidFill>
                <a:latin typeface="IBM Plex Sans" pitchFamily="34" charset="0"/>
                <a:ea typeface="IBM Plex Sans" pitchFamily="34" charset="-122"/>
                <a:cs typeface="IBM Plex Sans" pitchFamily="34" charset="-120"/>
              </a:rPr>
              <a:t>nit</a:t>
            </a:r>
            <a:endParaRPr lang="en-US" sz="1200" dirty="0"/>
          </a:p>
        </p:txBody>
      </p:sp>
      <p:sp>
        <p:nvSpPr>
          <p:cNvPr id="26" name="Text 21"/>
          <p:cNvSpPr/>
          <p:nvPr/>
        </p:nvSpPr>
        <p:spPr>
          <a:xfrm>
            <a:off x="6556375" y="2980691"/>
            <a:ext cx="981631" cy="233680"/>
          </a:xfrm>
          <a:custGeom>
            <a:avLst/>
            <a:gdLst/>
            <a:ahLst/>
            <a:cxnLst/>
            <a:rect l="l" t="t" r="r" b="b"/>
            <a:pathLst>
              <a:path w="981631" h="233680">
                <a:moveTo>
                  <a:pt x="116840" y="0"/>
                </a:moveTo>
                <a:lnTo>
                  <a:pt x="864791" y="0"/>
                </a:lnTo>
                <a:arcTo hR="116840" wR="116840" stAng="16200000" swAng="5400000"/>
                <a:lnTo>
                  <a:pt x="981631" y="116840"/>
                </a:lnTo>
                <a:arcTo hR="116840" wR="116840" stAng="0" swAng="5400000"/>
                <a:lnTo>
                  <a:pt x="116840" y="233680"/>
                </a:lnTo>
                <a:arcTo hR="116840" wR="116840" stAng="5400000" swAng="5400000"/>
                <a:lnTo>
                  <a:pt x="0" y="116840"/>
                </a:lnTo>
                <a:arcTo hR="116840" wR="116840" stAng="10800000" swAng="5400000"/>
                <a:close/>
              </a:path>
            </a:pathLst>
          </a:custGeom>
          <a:solidFill>
            <a:srgbClr val="E4E1D8"/>
          </a:solidFill>
          <a:ln/>
        </p:spPr>
        <p:txBody>
          <a:bodyPr wrap="none" lIns="0" tIns="0" rIns="0" bIns="0" rtlCol="0" anchor="ctr">
            <a:normAutofit/>
          </a:bodyPr>
          <a:lstStyle/>
          <a:p>
            <a:pPr algn="ctr" indent="0" marL="0">
              <a:lnSpc>
                <a:spcPts val="1440"/>
              </a:lnSpc>
              <a:buNone/>
            </a:pPr>
            <a:r>
              <a:rPr lang="en-US" sz="1200" dirty="0">
                <a:solidFill>
                  <a:srgbClr val="3B4250"/>
                </a:solidFill>
                <a:latin typeface="IBM Plex Sans" pitchFamily="34" charset="0"/>
                <a:ea typeface="IBM Plex Sans" pitchFamily="34" charset="-122"/>
                <a:cs typeface="IBM Plex Sans" pitchFamily="34" charset="-120"/>
              </a:rPr>
              <a:t>correctness</a:t>
            </a:r>
            <a:endParaRPr lang="en-US" sz="1200" dirty="0"/>
          </a:p>
        </p:txBody>
      </p:sp>
      <p:sp>
        <p:nvSpPr>
          <p:cNvPr id="27" name="Text 22"/>
          <p:cNvSpPr/>
          <p:nvPr/>
        </p:nvSpPr>
        <p:spPr>
          <a:xfrm>
            <a:off x="7601506" y="2980691"/>
            <a:ext cx="993140" cy="233680"/>
          </a:xfrm>
          <a:custGeom>
            <a:avLst/>
            <a:gdLst/>
            <a:ahLst/>
            <a:cxnLst/>
            <a:rect l="l" t="t" r="r" b="b"/>
            <a:pathLst>
              <a:path w="993140" h="233680">
                <a:moveTo>
                  <a:pt x="116840" y="0"/>
                </a:moveTo>
                <a:lnTo>
                  <a:pt x="876300" y="0"/>
                </a:lnTo>
                <a:arcTo hR="116840" wR="116840" stAng="16200000" swAng="5400000"/>
                <a:lnTo>
                  <a:pt x="993140" y="116840"/>
                </a:lnTo>
                <a:arcTo hR="116840" wR="116840" stAng="0" swAng="5400000"/>
                <a:lnTo>
                  <a:pt x="116840" y="233680"/>
                </a:lnTo>
                <a:arcTo hR="116840" wR="116840" stAng="5400000" swAng="5400000"/>
                <a:lnTo>
                  <a:pt x="0" y="116840"/>
                </a:lnTo>
                <a:arcTo hR="116840" wR="116840" stAng="10800000" swAng="5400000"/>
                <a:close/>
              </a:path>
            </a:pathLst>
          </a:custGeom>
          <a:solidFill>
            <a:srgbClr val="E4E1D8"/>
          </a:solidFill>
          <a:ln/>
        </p:spPr>
        <p:txBody>
          <a:bodyPr wrap="none" lIns="0" tIns="0" rIns="0" bIns="0" rtlCol="0" anchor="ctr">
            <a:normAutofit/>
          </a:bodyPr>
          <a:lstStyle/>
          <a:p>
            <a:pPr algn="ctr" indent="0" marL="0">
              <a:lnSpc>
                <a:spcPts val="1440"/>
              </a:lnSpc>
              <a:buNone/>
            </a:pPr>
            <a:r>
              <a:rPr lang="en-US" sz="1200" dirty="0">
                <a:solidFill>
                  <a:srgbClr val="3B4250"/>
                </a:solidFill>
                <a:latin typeface="IBM Plex Sans" pitchFamily="34" charset="0"/>
                <a:ea typeface="IBM Plex Sans" pitchFamily="34" charset="-122"/>
                <a:cs typeface="IBM Plex Sans" pitchFamily="34" charset="-120"/>
              </a:rPr>
              <a:t>lines 49–53</a:t>
            </a:r>
            <a:endParaRPr lang="en-US" sz="1200" dirty="0"/>
          </a:p>
        </p:txBody>
      </p:sp>
      <p:sp>
        <p:nvSpPr>
          <p:cNvPr id="28" name="Text 23"/>
          <p:cNvSpPr/>
          <p:nvPr/>
        </p:nvSpPr>
        <p:spPr>
          <a:xfrm>
            <a:off x="9579769" y="2980691"/>
            <a:ext cx="1654651" cy="233680"/>
          </a:xfrm>
          <a:custGeom>
            <a:avLst/>
            <a:gdLst/>
            <a:ahLst/>
            <a:cxnLst/>
            <a:rect l="l" t="t" r="r" b="b"/>
            <a:pathLst>
              <a:path w="1654651" h="233680">
                <a:moveTo>
                  <a:pt x="116840" y="0"/>
                </a:moveTo>
                <a:lnTo>
                  <a:pt x="1537811" y="0"/>
                </a:lnTo>
                <a:arcTo hR="116840" wR="116840" stAng="16200000" swAng="5400000"/>
                <a:lnTo>
                  <a:pt x="1654651" y="116840"/>
                </a:lnTo>
                <a:arcTo hR="116840" wR="116840" stAng="0" swAng="5400000"/>
                <a:lnTo>
                  <a:pt x="116840" y="233680"/>
                </a:lnTo>
                <a:arcTo hR="116840" wR="116840" stAng="5400000" swAng="5400000"/>
                <a:lnTo>
                  <a:pt x="0" y="116840"/>
                </a:lnTo>
                <a:arcTo hR="116840" wR="116840" stAng="10800000" swAng="5400000"/>
                <a:close/>
              </a:path>
            </a:pathLst>
          </a:custGeom>
          <a:solidFill>
            <a:srgbClr val="E3EFE7"/>
          </a:solidFill>
          <a:ln/>
        </p:spPr>
        <p:txBody>
          <a:bodyPr wrap="none" lIns="0" tIns="0" rIns="0" bIns="0" rtlCol="0" anchor="ctr">
            <a:normAutofit/>
          </a:bodyPr>
          <a:lstStyle/>
          <a:p>
            <a:pPr algn="ctr" indent="0" marL="0">
              <a:lnSpc>
                <a:spcPts val="1440"/>
              </a:lnSpc>
              <a:buNone/>
            </a:pPr>
            <a:r>
              <a:rPr lang="en-US" sz="1200" b="1" dirty="0">
                <a:solidFill>
                  <a:srgbClr val="1D7A4C"/>
                </a:solidFill>
                <a:latin typeface="IBM Plex Sans" pitchFamily="34" charset="0"/>
                <a:ea typeface="IBM Plex Sans" pitchFamily="34" charset="-122"/>
                <a:cs typeface="IBM Plex Sans" pitchFamily="34" charset="-120"/>
              </a:rPr>
              <a:t>evidence: diff hunk 1</a:t>
            </a:r>
            <a:endParaRPr lang="en-US" sz="1200" dirty="0"/>
          </a:p>
        </p:txBody>
      </p:sp>
      <p:sp>
        <p:nvSpPr>
          <p:cNvPr id="29" name="Text 24"/>
          <p:cNvSpPr/>
          <p:nvPr/>
        </p:nvSpPr>
        <p:spPr>
          <a:xfrm>
            <a:off x="6126480" y="3277870"/>
            <a:ext cx="5261178"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5181D"/>
                </a:solidFill>
                <a:latin typeface="IBM Plex Mono" pitchFamily="49" charset="0"/>
                <a:ea typeface="IBM Plex Mono" pitchFamily="49" charset="-122"/>
                <a:cs typeface="IBM Plex Mono" pitchFamily="49" charset="-120"/>
              </a:rPr>
              <a:t>packages/playwright-core/src/server/registry/index.ts</a:t>
            </a:r>
            <a:endParaRPr lang="en-US" sz="1200" dirty="0"/>
          </a:p>
        </p:txBody>
      </p:sp>
      <p:sp>
        <p:nvSpPr>
          <p:cNvPr id="30" name="Shape 25"/>
          <p:cNvSpPr/>
          <p:nvPr/>
        </p:nvSpPr>
        <p:spPr>
          <a:xfrm>
            <a:off x="5921375" y="4354195"/>
            <a:ext cx="5454650" cy="618490"/>
          </a:xfrm>
          <a:prstGeom prst="roundRect">
            <a:avLst>
              <a:gd name="adj" fmla="val 13860"/>
            </a:avLst>
          </a:prstGeom>
          <a:solidFill>
            <a:srgbClr val="F8EAD9"/>
          </a:solidFill>
          <a:ln w="6350">
            <a:solidFill>
              <a:srgbClr val="E0B98C"/>
            </a:solidFill>
            <a:prstDash val="solid"/>
          </a:ln>
        </p:spPr>
      </p:sp>
      <p:pic>
        <p:nvPicPr>
          <p:cNvPr id="31" name="Image 3" descr="Warning">    </p:cNvPr>
          <p:cNvPicPr>
            <a:picLocks noChangeAspect="1"/>
          </p:cNvPicPr>
          <p:nvPr/>
        </p:nvPicPr>
        <p:blipFill>
          <a:blip r:embed="rId4"/>
          <a:srcRect l="0" r="0" t="0" b="0"/>
          <a:stretch/>
        </p:blipFill>
        <p:spPr>
          <a:xfrm>
            <a:off x="6062980" y="4457700"/>
            <a:ext cx="228600" cy="228600"/>
          </a:xfrm>
          <a:prstGeom prst="rect">
            <a:avLst/>
          </a:prstGeom>
        </p:spPr>
      </p:pic>
      <p:sp>
        <p:nvSpPr>
          <p:cNvPr id="32" name="Text 26"/>
          <p:cNvSpPr/>
          <p:nvPr/>
        </p:nvSpPr>
        <p:spPr>
          <a:xfrm>
            <a:off x="6393180" y="4457700"/>
            <a:ext cx="49864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A3310"/>
                </a:solidFill>
                <a:latin typeface="IBM Plex Sans" pitchFamily="34" charset="0"/>
                <a:ea typeface="IBM Plex Sans" pitchFamily="34" charset="-122"/>
                <a:cs typeface="IBM Plex Sans" pitchFamily="34" charset="-120"/>
              </a:rPr>
              <a:t>Its own caveats.</a:t>
            </a:r>
            <a:r>
              <a:rPr lang="en-US" sz="1200" dirty="0">
                <a:solidFill>
                  <a:srgbClr val="5A3310"/>
                </a:solidFill>
                <a:latin typeface="IBM Plex Sans" pitchFamily="34" charset="0"/>
                <a:ea typeface="IBM Plex Sans" pitchFamily="34" charset="-122"/>
                <a:cs typeface="IBM Plex Sans" pitchFamily="34" charset="-120"/>
              </a:rPr>
              <a:t> No checks were run and no related context was gathered in this build. No finding call named 9 of the 10 reviewed files.</a:t>
            </a:r>
            <a:endParaRPr lang="en-US" sz="1200" dirty="0"/>
          </a:p>
        </p:txBody>
      </p:sp>
      <p:sp>
        <p:nvSpPr>
          <p:cNvPr id="33" name="Shape 27"/>
          <p:cNvSpPr/>
          <p:nvPr/>
        </p:nvSpPr>
        <p:spPr>
          <a:xfrm>
            <a:off x="5918200" y="5064761"/>
            <a:ext cx="5461000" cy="401320"/>
          </a:xfrm>
          <a:prstGeom prst="roundRect">
            <a:avLst>
              <a:gd name="adj" fmla="val 22152"/>
            </a:avLst>
          </a:prstGeom>
          <a:solidFill>
            <a:srgbClr val="15181D"/>
          </a:solidFill>
          <a:ln/>
        </p:spPr>
      </p:sp>
      <p:sp>
        <p:nvSpPr>
          <p:cNvPr id="34" name="Text 28"/>
          <p:cNvSpPr/>
          <p:nvPr/>
        </p:nvSpPr>
        <p:spPr>
          <a:xfrm>
            <a:off x="6070600" y="5166361"/>
            <a:ext cx="2839125"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4F2EC"/>
                </a:solidFill>
                <a:latin typeface="IBM Plex Sans" pitchFamily="34" charset="0"/>
                <a:ea typeface="IBM Plex Sans" pitchFamily="34" charset="-122"/>
                <a:cs typeface="IBM Plex Sans" pitchFamily="34" charset="-120"/>
              </a:rPr>
              <a:t>Verdict: findings, none blocking</a:t>
            </a:r>
            <a:endParaRPr lang="en-US" sz="1300" dirty="0"/>
          </a:p>
        </p:txBody>
      </p:sp>
      <p:sp>
        <p:nvSpPr>
          <p:cNvPr id="35" name="Text 29"/>
          <p:cNvSpPr/>
          <p:nvPr/>
        </p:nvSpPr>
        <p:spPr>
          <a:xfrm>
            <a:off x="8963279" y="5173980"/>
            <a:ext cx="2263521"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C9C6BD"/>
                </a:solidFill>
                <a:latin typeface="IBM Plex Sans" pitchFamily="34" charset="0"/>
                <a:ea typeface="IBM Plex Sans" pitchFamily="34" charset="-122"/>
                <a:cs typeface="IBM Plex Sans" pitchFamily="34" charset="-120"/>
              </a:rPr>
              <a:t>125.4 s, including the clone</a:t>
            </a:r>
            <a:endParaRPr lang="en-US" sz="1200" dirty="0"/>
          </a:p>
        </p:txBody>
      </p:sp>
      <p:sp>
        <p:nvSpPr>
          <p:cNvPr id="36" name="Text 30"/>
          <p:cNvSpPr/>
          <p:nvPr/>
        </p:nvSpPr>
        <p:spPr>
          <a:xfrm>
            <a:off x="6127750" y="3524250"/>
            <a:ext cx="5265103"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250"/>
                </a:solidFill>
                <a:latin typeface="IBM Plex Sans" pitchFamily="34" charset="0"/>
                <a:ea typeface="IBM Plex Sans" pitchFamily="34" charset="-122"/>
                <a:cs typeface="IBM Plex Sans" pitchFamily="34" charset="-120"/>
              </a:rPr>
              <a:t>… </a:t>
            </a:r>
            <a:r>
              <a:rPr lang="en-US" sz="1200" b="1" dirty="0">
                <a:solidFill>
                  <a:srgbClr val="3B4250"/>
                </a:solidFill>
                <a:latin typeface="IBM Plex Sans" pitchFamily="34" charset="0"/>
                <a:ea typeface="IBM Plex Sans" pitchFamily="34" charset="-122"/>
                <a:cs typeface="IBM Plex Sans" pitchFamily="34" charset="-120"/>
              </a:rPr>
              <a:t>calculateSha1(installationLinkTarget())</a:t>
            </a:r>
            <a:r>
              <a:rPr lang="en-US" sz="1200" dirty="0">
                <a:solidFill>
                  <a:srgbClr val="3B4250"/>
                </a:solidFill>
                <a:latin typeface="IBM Plex Sans" pitchFamily="34" charset="0"/>
                <a:ea typeface="IBM Plex Sans" pitchFamily="34" charset="-122"/>
                <a:cs typeface="IBM Plex Sans" pitchFamily="34" charset="-120"/>
              </a:rPr>
              <a:t> … will evaluate differently if </a:t>
            </a:r>
            <a:r>
              <a:rPr lang="en-US" sz="1200" b="1" dirty="0">
                <a:solidFill>
                  <a:srgbClr val="3B4250"/>
                </a:solidFill>
                <a:latin typeface="IBM Plex Sans" pitchFamily="34" charset="0"/>
                <a:ea typeface="IBM Plex Sans" pitchFamily="34" charset="-122"/>
                <a:cs typeface="IBM Plex Sans" pitchFamily="34" charset="-120"/>
              </a:rPr>
              <a:t>process.cwd()</a:t>
            </a:r>
            <a:r>
              <a:rPr lang="en-US" sz="1200" dirty="0">
                <a:solidFill>
                  <a:srgbClr val="3B4250"/>
                </a:solidFill>
                <a:latin typeface="IBM Plex Sans" pitchFamily="34" charset="0"/>
                <a:ea typeface="IBM Plex Sans" pitchFamily="34" charset="-122"/>
                <a:cs typeface="IBM Plex Sans" pitchFamily="34" charset="-120"/>
              </a:rPr>
              <a:t> differs between install and uninstall when bundled, leaving orphaned </a:t>
            </a:r>
            <a:r>
              <a:rPr lang="en-US" sz="1200" b="1" dirty="0">
                <a:solidFill>
                  <a:srgbClr val="3B4250"/>
                </a:solidFill>
                <a:latin typeface="IBM Plex Sans" pitchFamily="34" charset="0"/>
                <a:ea typeface="IBM Plex Sans" pitchFamily="34" charset="-122"/>
                <a:cs typeface="IBM Plex Sans" pitchFamily="34" charset="-120"/>
              </a:rPr>
              <a:t>.links</a:t>
            </a:r>
            <a:r>
              <a:rPr lang="en-US" sz="1200" dirty="0">
                <a:solidFill>
                  <a:srgbClr val="3B4250"/>
                </a:solidFill>
                <a:latin typeface="IBM Plex Sans" pitchFamily="34" charset="0"/>
                <a:ea typeface="IBM Plex Sans" pitchFamily="34" charset="-122"/>
                <a:cs typeface="IBM Plex Sans" pitchFamily="34" charset="-120"/>
              </a:rPr>
              <a:t> files.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5811521"/>
            <a:ext cx="1088339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Sources: SlashData 2025; Stack Overflow 2019 and 2025; JetBrains 2025 (proxy). Figures are our calculations in the market study and the unit-economics file. </a:t>
            </a:r>
            <a:endParaRPr lang="en-US" sz="1200" dirty="0"/>
          </a:p>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7M == 11.2M × 76.4% who say they review code as part of their work. = 5.3 - 8.5</a:t>
            </a:r>
            <a:endParaRPr lang="en-US" sz="1200" dirty="0"/>
          </a:p>
        </p:txBody>
      </p:sp>
      <p:sp>
        <p:nvSpPr>
          <p:cNvPr id="3" name="Text 1"/>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Up to $10.5B–$13.1B a year, at rivals' prices</a:t>
            </a:r>
            <a:endParaRPr lang="en-US" sz="3600" dirty="0"/>
          </a:p>
        </p:txBody>
      </p:sp>
      <p:pic>
        <p:nvPicPr>
          <p:cNvPr id="4" name="Image 0" descr="Nested bars: TAM 10.5 to 13.1 billion dollars a year, SAM 2.0 to 4.0 billion dollars a year, SOM in year 1 3,960 dollars a year from 15 paying seats, half of the 30 seats in 6 pilot teams">    </p:cNvPr>
          <p:cNvPicPr>
            <a:picLocks noChangeAspect="1"/>
          </p:cNvPicPr>
          <p:nvPr/>
        </p:nvPicPr>
        <p:blipFill>
          <a:blip r:embed="rId1"/>
          <a:srcRect l="0" r="0" t="-31" b="-31"/>
          <a:stretch/>
        </p:blipFill>
        <p:spPr>
          <a:xfrm>
            <a:off x="812800" y="1606313"/>
            <a:ext cx="10566400" cy="2540000"/>
          </a:xfrm>
          <a:prstGeom prst="rect">
            <a:avLst/>
          </a:prstGeom>
        </p:spPr>
      </p:pic>
      <p:sp>
        <p:nvSpPr>
          <p:cNvPr id="5" name="Text 2"/>
          <p:cNvSpPr/>
          <p:nvPr/>
        </p:nvSpPr>
        <p:spPr>
          <a:xfrm>
            <a:off x="812800" y="4464050"/>
            <a:ext cx="98107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470"/>
                </a:solidFill>
                <a:latin typeface="IBM Plex Sans" pitchFamily="34" charset="0"/>
                <a:ea typeface="IBM Plex Sans" pitchFamily="34" charset="-122"/>
                <a:cs typeface="IBM Plex Sans" pitchFamily="34" charset="-120"/>
              </a:rPr>
              <a:t>Price used: rivals' entry price, $24–30 per developer per month. At our own price, $22 a seat, the TAM is $9.6B.</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Free CLI; hosted reviews at $22 a seat</a:t>
            </a:r>
            <a:endParaRPr lang="en-US" sz="3600" dirty="0"/>
          </a:p>
        </p:txBody>
      </p:sp>
      <p:sp>
        <p:nvSpPr>
          <p:cNvPr id="3" name="Shape 1"/>
          <p:cNvSpPr/>
          <p:nvPr/>
        </p:nvSpPr>
        <p:spPr>
          <a:xfrm>
            <a:off x="815975" y="1572896"/>
            <a:ext cx="5175250" cy="1459230"/>
          </a:xfrm>
          <a:prstGeom prst="roundRect">
            <a:avLst>
              <a:gd name="adj" fmla="val 6745"/>
            </a:avLst>
          </a:prstGeom>
          <a:solidFill>
            <a:srgbClr val="FBFAF6"/>
          </a:solidFill>
          <a:ln w="6350">
            <a:solidFill>
              <a:srgbClr val="DDD9CF"/>
            </a:solidFill>
            <a:prstDash val="solid"/>
          </a:ln>
        </p:spPr>
      </p:sp>
      <p:sp>
        <p:nvSpPr>
          <p:cNvPr id="4" name="Text 2"/>
          <p:cNvSpPr/>
          <p:nvPr/>
        </p:nvSpPr>
        <p:spPr>
          <a:xfrm>
            <a:off x="1071880" y="1803400"/>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D7A4C"/>
                </a:solidFill>
                <a:latin typeface="IBM Plex Mono" pitchFamily="49" charset="0"/>
                <a:ea typeface="IBM Plex Mono" pitchFamily="49" charset="-122"/>
                <a:cs typeface="IBM Plex Mono" pitchFamily="49" charset="-120"/>
              </a:rPr>
              <a:t>FREE</a:t>
            </a:r>
            <a:endParaRPr lang="en-US" sz="1400" dirty="0"/>
          </a:p>
        </p:txBody>
      </p:sp>
      <p:sp>
        <p:nvSpPr>
          <p:cNvPr id="5" name="Text 3"/>
          <p:cNvSpPr/>
          <p:nvPr/>
        </p:nvSpPr>
        <p:spPr>
          <a:xfrm>
            <a:off x="1071880" y="214122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81D"/>
                </a:solidFill>
                <a:latin typeface="IBM Plex Sans" pitchFamily="34" charset="0"/>
                <a:ea typeface="IBM Plex Sans" pitchFamily="34" charset="-122"/>
                <a:cs typeface="IBM Plex Sans" pitchFamily="34" charset="-120"/>
              </a:rPr>
              <a:t>Command-line tool</a:t>
            </a:r>
            <a:endParaRPr lang="en-US" sz="2000" dirty="0"/>
          </a:p>
        </p:txBody>
      </p:sp>
      <p:sp>
        <p:nvSpPr>
          <p:cNvPr id="6" name="Text 4"/>
          <p:cNvSpPr/>
          <p:nvPr/>
        </p:nvSpPr>
        <p:spPr>
          <a:xfrm>
            <a:off x="1071880" y="25349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0"/>
                </a:solidFill>
                <a:latin typeface="IBM Plex Sans" pitchFamily="34" charset="0"/>
                <a:ea typeface="IBM Plex Sans" pitchFamily="34" charset="-122"/>
                <a:cs typeface="IBM Plex Sans" pitchFamily="34" charset="-120"/>
              </a:rPr>
              <a:t>Open source. Runs on the developer's own machine.</a:t>
            </a:r>
            <a:endParaRPr lang="en-US" sz="1500" dirty="0"/>
          </a:p>
        </p:txBody>
      </p:sp>
      <p:sp>
        <p:nvSpPr>
          <p:cNvPr id="7" name="Shape 5"/>
          <p:cNvSpPr/>
          <p:nvPr/>
        </p:nvSpPr>
        <p:spPr>
          <a:xfrm>
            <a:off x="6200775" y="1572896"/>
            <a:ext cx="5175250" cy="1459230"/>
          </a:xfrm>
          <a:prstGeom prst="roundRect">
            <a:avLst>
              <a:gd name="adj" fmla="val 6745"/>
            </a:avLst>
          </a:prstGeom>
          <a:solidFill>
            <a:srgbClr val="FBFAF6"/>
          </a:solidFill>
          <a:ln w="6350">
            <a:solidFill>
              <a:srgbClr val="DDD9CF"/>
            </a:solidFill>
            <a:prstDash val="solid"/>
          </a:ln>
        </p:spPr>
      </p:sp>
      <p:sp>
        <p:nvSpPr>
          <p:cNvPr id="8" name="Text 6"/>
          <p:cNvSpPr/>
          <p:nvPr/>
        </p:nvSpPr>
        <p:spPr>
          <a:xfrm>
            <a:off x="6456680" y="1803400"/>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561A"/>
                </a:solidFill>
                <a:latin typeface="IBM Plex Mono" pitchFamily="49" charset="0"/>
                <a:ea typeface="IBM Plex Mono" pitchFamily="49" charset="-122"/>
                <a:cs typeface="IBM Plex Mono" pitchFamily="49" charset="-120"/>
              </a:rPr>
              <a:t>PAID</a:t>
            </a:r>
            <a:endParaRPr lang="en-US" sz="1400" dirty="0"/>
          </a:p>
        </p:txBody>
      </p:sp>
      <p:sp>
        <p:nvSpPr>
          <p:cNvPr id="9" name="Text 7"/>
          <p:cNvSpPr/>
          <p:nvPr/>
        </p:nvSpPr>
        <p:spPr>
          <a:xfrm>
            <a:off x="6456680" y="214122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181D"/>
                </a:solidFill>
                <a:latin typeface="IBM Plex Sans" pitchFamily="34" charset="0"/>
                <a:ea typeface="IBM Plex Sans" pitchFamily="34" charset="-122"/>
                <a:cs typeface="IBM Plex Sans" pitchFamily="34" charset="-120"/>
              </a:rPr>
              <a:t>Hosted review service</a:t>
            </a:r>
            <a:endParaRPr lang="en-US" sz="2000" dirty="0"/>
          </a:p>
        </p:txBody>
      </p:sp>
      <p:sp>
        <p:nvSpPr>
          <p:cNvPr id="10" name="Text 8"/>
          <p:cNvSpPr/>
          <p:nvPr/>
        </p:nvSpPr>
        <p:spPr>
          <a:xfrm>
            <a:off x="6456680" y="2534921"/>
            <a:ext cx="480334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250"/>
                </a:solidFill>
                <a:latin typeface="IBM Plex Sans" pitchFamily="34" charset="0"/>
                <a:ea typeface="IBM Plex Sans" pitchFamily="34" charset="-122"/>
                <a:cs typeface="IBM Plex Sans" pitchFamily="34" charset="-120"/>
              </a:rPr>
              <a:t>$22 per developer a month. Not designed yet.</a:t>
            </a:r>
            <a:endParaRPr lang="en-US" sz="1500" dirty="0"/>
          </a:p>
        </p:txBody>
      </p:sp>
      <p:sp>
        <p:nvSpPr>
          <p:cNvPr id="11" name="Shape 9"/>
          <p:cNvSpPr/>
          <p:nvPr/>
        </p:nvSpPr>
        <p:spPr>
          <a:xfrm>
            <a:off x="815975" y="3292475"/>
            <a:ext cx="2542540" cy="1395730"/>
          </a:xfrm>
          <a:prstGeom prst="roundRect">
            <a:avLst>
              <a:gd name="adj" fmla="val 7052"/>
            </a:avLst>
          </a:prstGeom>
          <a:solidFill>
            <a:srgbClr val="FBFAF6"/>
          </a:solidFill>
          <a:ln w="6350">
            <a:solidFill>
              <a:srgbClr val="DDD9CF"/>
            </a:solidFill>
            <a:prstDash val="solid"/>
          </a:ln>
        </p:spPr>
      </p:sp>
      <p:sp>
        <p:nvSpPr>
          <p:cNvPr id="12" name="Text 10"/>
          <p:cNvSpPr/>
          <p:nvPr/>
        </p:nvSpPr>
        <p:spPr>
          <a:xfrm>
            <a:off x="995680" y="3472182"/>
            <a:ext cx="224862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D6470"/>
                </a:solidFill>
                <a:latin typeface="IBM Plex Mono" pitchFamily="49" charset="0"/>
                <a:ea typeface="IBM Plex Mono" pitchFamily="49" charset="-122"/>
                <a:cs typeface="IBM Plex Mono" pitchFamily="49" charset="-120"/>
              </a:rPr>
              <a:t>CODERABBIT</a:t>
            </a:r>
            <a:endParaRPr lang="en-US" sz="1200" dirty="0"/>
          </a:p>
        </p:txBody>
      </p:sp>
      <p:sp>
        <p:nvSpPr>
          <p:cNvPr id="13" name="Text 11"/>
          <p:cNvSpPr/>
          <p:nvPr/>
        </p:nvSpPr>
        <p:spPr>
          <a:xfrm>
            <a:off x="995680" y="3736339"/>
            <a:ext cx="22486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81D"/>
                </a:solidFill>
                <a:latin typeface="IBM Plex Sans" pitchFamily="34" charset="0"/>
                <a:ea typeface="IBM Plex Sans" pitchFamily="34" charset="-122"/>
                <a:cs typeface="IBM Plex Sans" pitchFamily="34" charset="-120"/>
              </a:rPr>
              <a:t>$24</a:t>
            </a:r>
            <a:endParaRPr lang="en-US" sz="2200" dirty="0"/>
          </a:p>
        </p:txBody>
      </p:sp>
      <p:sp>
        <p:nvSpPr>
          <p:cNvPr id="14" name="Text 12"/>
          <p:cNvSpPr/>
          <p:nvPr/>
        </p:nvSpPr>
        <p:spPr>
          <a:xfrm>
            <a:off x="995680" y="4122421"/>
            <a:ext cx="22486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250"/>
                </a:solidFill>
                <a:latin typeface="IBM Plex Sans" pitchFamily="34" charset="0"/>
                <a:ea typeface="IBM Plex Sans" pitchFamily="34" charset="-122"/>
                <a:cs typeface="IBM Plex Sans" pitchFamily="34" charset="-120"/>
              </a:rPr>
              <a:t>entry price, a seat a month</a:t>
            </a:r>
            <a:endParaRPr lang="en-US" sz="1200" dirty="0"/>
          </a:p>
        </p:txBody>
      </p:sp>
      <p:sp>
        <p:nvSpPr>
          <p:cNvPr id="15" name="Shape 13"/>
          <p:cNvSpPr/>
          <p:nvPr/>
        </p:nvSpPr>
        <p:spPr>
          <a:xfrm>
            <a:off x="3491865" y="3292475"/>
            <a:ext cx="2542540" cy="1395730"/>
          </a:xfrm>
          <a:prstGeom prst="roundRect">
            <a:avLst>
              <a:gd name="adj" fmla="val 7052"/>
            </a:avLst>
          </a:prstGeom>
          <a:solidFill>
            <a:srgbClr val="FBFAF6"/>
          </a:solidFill>
          <a:ln w="6350">
            <a:solidFill>
              <a:srgbClr val="DDD9CF"/>
            </a:solidFill>
            <a:prstDash val="solid"/>
          </a:ln>
        </p:spPr>
      </p:sp>
      <p:sp>
        <p:nvSpPr>
          <p:cNvPr id="16" name="Text 14"/>
          <p:cNvSpPr/>
          <p:nvPr/>
        </p:nvSpPr>
        <p:spPr>
          <a:xfrm>
            <a:off x="3671570" y="3472182"/>
            <a:ext cx="224862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D6470"/>
                </a:solidFill>
                <a:latin typeface="IBM Plex Mono" pitchFamily="49" charset="0"/>
                <a:ea typeface="IBM Plex Mono" pitchFamily="49" charset="-122"/>
                <a:cs typeface="IBM Plex Mono" pitchFamily="49" charset="-120"/>
              </a:rPr>
              <a:t>GRAPHITE</a:t>
            </a:r>
            <a:endParaRPr lang="en-US" sz="1200" dirty="0"/>
          </a:p>
        </p:txBody>
      </p:sp>
      <p:sp>
        <p:nvSpPr>
          <p:cNvPr id="17" name="Text 15"/>
          <p:cNvSpPr/>
          <p:nvPr/>
        </p:nvSpPr>
        <p:spPr>
          <a:xfrm>
            <a:off x="3671570" y="3736339"/>
            <a:ext cx="22486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81D"/>
                </a:solidFill>
                <a:latin typeface="IBM Plex Sans" pitchFamily="34" charset="0"/>
                <a:ea typeface="IBM Plex Sans" pitchFamily="34" charset="-122"/>
                <a:cs typeface="IBM Plex Sans" pitchFamily="34" charset="-120"/>
              </a:rPr>
              <a:t>$20</a:t>
            </a:r>
            <a:endParaRPr lang="en-US" sz="2200" dirty="0"/>
          </a:p>
        </p:txBody>
      </p:sp>
      <p:sp>
        <p:nvSpPr>
          <p:cNvPr id="18" name="Text 16"/>
          <p:cNvSpPr/>
          <p:nvPr/>
        </p:nvSpPr>
        <p:spPr>
          <a:xfrm>
            <a:off x="3671570" y="4122421"/>
            <a:ext cx="22486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250"/>
                </a:solidFill>
                <a:latin typeface="IBM Plex Sans" pitchFamily="34" charset="0"/>
                <a:ea typeface="IBM Plex Sans" pitchFamily="34" charset="-122"/>
                <a:cs typeface="IBM Plex Sans" pitchFamily="34" charset="-120"/>
              </a:rPr>
              <a:t>entry price, a seat a month</a:t>
            </a:r>
            <a:endParaRPr lang="en-US" sz="1200" dirty="0"/>
          </a:p>
        </p:txBody>
      </p:sp>
      <p:sp>
        <p:nvSpPr>
          <p:cNvPr id="19" name="Shape 17"/>
          <p:cNvSpPr/>
          <p:nvPr/>
        </p:nvSpPr>
        <p:spPr>
          <a:xfrm>
            <a:off x="6167755" y="3292475"/>
            <a:ext cx="2542540" cy="1395730"/>
          </a:xfrm>
          <a:prstGeom prst="roundRect">
            <a:avLst>
              <a:gd name="adj" fmla="val 7052"/>
            </a:avLst>
          </a:prstGeom>
          <a:solidFill>
            <a:srgbClr val="E3EFE7"/>
          </a:solidFill>
          <a:ln w="6350">
            <a:solidFill>
              <a:srgbClr val="1D7A4C"/>
            </a:solidFill>
            <a:prstDash val="solid"/>
          </a:ln>
        </p:spPr>
      </p:sp>
      <p:sp>
        <p:nvSpPr>
          <p:cNvPr id="20" name="Text 18"/>
          <p:cNvSpPr/>
          <p:nvPr/>
        </p:nvSpPr>
        <p:spPr>
          <a:xfrm>
            <a:off x="6347460" y="3472182"/>
            <a:ext cx="224862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D7A4C"/>
                </a:solidFill>
                <a:latin typeface="IBM Plex Mono" pitchFamily="49" charset="0"/>
                <a:ea typeface="IBM Plex Mono" pitchFamily="49" charset="-122"/>
                <a:cs typeface="IBM Plex Mono" pitchFamily="49" charset="-120"/>
              </a:rPr>
              <a:t>OUR PRICE</a:t>
            </a:r>
            <a:endParaRPr lang="en-US" sz="1200" dirty="0"/>
          </a:p>
        </p:txBody>
      </p:sp>
      <p:sp>
        <p:nvSpPr>
          <p:cNvPr id="21" name="Text 19"/>
          <p:cNvSpPr/>
          <p:nvPr/>
        </p:nvSpPr>
        <p:spPr>
          <a:xfrm>
            <a:off x="6347460" y="3736339"/>
            <a:ext cx="22486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81D"/>
                </a:solidFill>
                <a:latin typeface="IBM Plex Sans" pitchFamily="34" charset="0"/>
                <a:ea typeface="IBM Plex Sans" pitchFamily="34" charset="-122"/>
                <a:cs typeface="IBM Plex Sans" pitchFamily="34" charset="-120"/>
              </a:rPr>
              <a:t>$22</a:t>
            </a:r>
            <a:endParaRPr lang="en-US" sz="2200" dirty="0"/>
          </a:p>
        </p:txBody>
      </p:sp>
      <p:sp>
        <p:nvSpPr>
          <p:cNvPr id="22" name="Text 20"/>
          <p:cNvSpPr/>
          <p:nvPr/>
        </p:nvSpPr>
        <p:spPr>
          <a:xfrm>
            <a:off x="6347460" y="4122421"/>
            <a:ext cx="22486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250"/>
                </a:solidFill>
                <a:latin typeface="IBM Plex Sans" pitchFamily="34" charset="0"/>
                <a:ea typeface="IBM Plex Sans" pitchFamily="34" charset="-122"/>
                <a:cs typeface="IBM Plex Sans" pitchFamily="34" charset="-120"/>
              </a:rPr>
              <a:t>a seat a month</a:t>
            </a:r>
            <a:endParaRPr lang="en-US" sz="1200" dirty="0"/>
          </a:p>
        </p:txBody>
      </p:sp>
      <p:sp>
        <p:nvSpPr>
          <p:cNvPr id="23" name="Shape 21"/>
          <p:cNvSpPr/>
          <p:nvPr/>
        </p:nvSpPr>
        <p:spPr>
          <a:xfrm>
            <a:off x="8840470" y="3289300"/>
            <a:ext cx="2538730" cy="1402080"/>
          </a:xfrm>
          <a:prstGeom prst="roundRect">
            <a:avLst>
              <a:gd name="adj" fmla="val 7246"/>
            </a:avLst>
          </a:prstGeom>
          <a:solidFill>
            <a:srgbClr val="15181D"/>
          </a:solidFill>
          <a:ln/>
        </p:spPr>
      </p:sp>
      <p:sp>
        <p:nvSpPr>
          <p:cNvPr id="24" name="Text 22"/>
          <p:cNvSpPr/>
          <p:nvPr/>
        </p:nvSpPr>
        <p:spPr>
          <a:xfrm>
            <a:off x="9018270" y="3467100"/>
            <a:ext cx="224862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CC28E"/>
                </a:solidFill>
                <a:latin typeface="IBM Plex Mono" pitchFamily="49" charset="0"/>
                <a:ea typeface="IBM Plex Mono" pitchFamily="49" charset="-122"/>
                <a:cs typeface="IBM Plex Mono" pitchFamily="49" charset="-120"/>
              </a:rPr>
              <a:t>OUR COST</a:t>
            </a:r>
            <a:endParaRPr lang="en-US" sz="1200" dirty="0"/>
          </a:p>
        </p:txBody>
      </p:sp>
      <p:sp>
        <p:nvSpPr>
          <p:cNvPr id="25" name="Text 23"/>
          <p:cNvSpPr/>
          <p:nvPr/>
        </p:nvSpPr>
        <p:spPr>
          <a:xfrm>
            <a:off x="9018270" y="3731261"/>
            <a:ext cx="22486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$1.14–$5.81</a:t>
            </a:r>
            <a:endParaRPr lang="en-US" sz="2200" dirty="0"/>
          </a:p>
        </p:txBody>
      </p:sp>
      <p:sp>
        <p:nvSpPr>
          <p:cNvPr id="26" name="Text 24"/>
          <p:cNvSpPr/>
          <p:nvPr/>
        </p:nvSpPr>
        <p:spPr>
          <a:xfrm>
            <a:off x="9018270" y="4117339"/>
            <a:ext cx="2248624"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C6BD"/>
                </a:solidFill>
                <a:latin typeface="IBM Plex Sans" pitchFamily="34" charset="0"/>
                <a:ea typeface="IBM Plex Sans" pitchFamily="34" charset="-122"/>
                <a:cs typeface="IBM Plex Sans" pitchFamily="34" charset="-120"/>
              </a:rPr>
              <a:t>a seat a month, 25 to 75 reviews</a:t>
            </a:r>
            <a:endParaRPr lang="en-US" sz="1200" dirty="0"/>
          </a:p>
        </p:txBody>
      </p:sp>
      <p:sp>
        <p:nvSpPr>
          <p:cNvPr id="27" name="Text 25"/>
          <p:cNvSpPr/>
          <p:nvPr/>
        </p:nvSpPr>
        <p:spPr>
          <a:xfrm>
            <a:off x="812800" y="6024882"/>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Rivals' prices: vendors' pages. Our cost: the average seat's 25 to 75 reviews a month, at five to eight cents each from two measured runs; it doubles in 2027.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E8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Built so far: a single-pass command-line review</a:t>
            </a:r>
            <a:endParaRPr lang="en-US" sz="3600" dirty="0"/>
          </a:p>
        </p:txBody>
      </p:sp>
      <p:sp>
        <p:nvSpPr>
          <p:cNvPr id="3" name="Shape 1"/>
          <p:cNvSpPr/>
          <p:nvPr/>
        </p:nvSpPr>
        <p:spPr>
          <a:xfrm>
            <a:off x="815975" y="1623696"/>
            <a:ext cx="10560050" cy="674370"/>
          </a:xfrm>
          <a:custGeom>
            <a:avLst/>
            <a:gdLst/>
            <a:ahLst/>
            <a:cxnLst/>
            <a:rect l="l" t="t" r="r" b="b"/>
            <a:pathLst>
              <a:path w="10560050" h="674370">
                <a:moveTo>
                  <a:pt x="98425" y="0"/>
                </a:moveTo>
                <a:lnTo>
                  <a:pt x="10461625" y="0"/>
                </a:lnTo>
                <a:arcTo hR="98425" wR="98425" stAng="16200000" swAng="5400000"/>
                <a:lnTo>
                  <a:pt x="10560050" y="674370"/>
                </a:lnTo>
                <a:lnTo>
                  <a:pt x="0" y="674370"/>
                </a:lnTo>
                <a:lnTo>
                  <a:pt x="0" y="98425"/>
                </a:lnTo>
                <a:arcTo hR="98425" wR="98425" stAng="10800000" swAng="5400000"/>
                <a:close/>
              </a:path>
            </a:pathLst>
          </a:custGeom>
          <a:solidFill>
            <a:srgbClr val="FBFAF6"/>
          </a:solidFill>
          <a:ln w="6350">
            <a:solidFill>
              <a:srgbClr val="D6D1C4"/>
            </a:solidFill>
            <a:prstDash val="solid"/>
          </a:ln>
        </p:spPr>
      </p:sp>
      <p:sp>
        <p:nvSpPr>
          <p:cNvPr id="4" name="Text 2"/>
          <p:cNvSpPr/>
          <p:nvPr/>
        </p:nvSpPr>
        <p:spPr>
          <a:xfrm>
            <a:off x="1122680" y="1836421"/>
            <a:ext cx="20929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7A4C"/>
                </a:solidFill>
                <a:latin typeface="IBM Plex Mono" pitchFamily="49" charset="0"/>
                <a:ea typeface="IBM Plex Mono" pitchFamily="49" charset="-122"/>
                <a:cs typeface="IBM Plex Mono" pitchFamily="49" charset="-120"/>
              </a:rPr>
              <a:t>✓ 2026-09-17</a:t>
            </a:r>
            <a:endParaRPr lang="en-US" sz="1400" dirty="0"/>
          </a:p>
        </p:txBody>
      </p:sp>
      <p:sp>
        <p:nvSpPr>
          <p:cNvPr id="5" name="Text 3"/>
          <p:cNvSpPr/>
          <p:nvPr/>
        </p:nvSpPr>
        <p:spPr>
          <a:xfrm>
            <a:off x="3459480" y="1816100"/>
            <a:ext cx="7838135"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5181D"/>
                </a:solidFill>
                <a:latin typeface="IBM Plex Sans" pitchFamily="34" charset="0"/>
                <a:ea typeface="IBM Plex Sans" pitchFamily="34" charset="-122"/>
                <a:cs typeface="IBM Plex Sans" pitchFamily="34" charset="-120"/>
              </a:rPr>
              <a:t>Reviews uncommitted changes in one model pass</a:t>
            </a:r>
            <a:endParaRPr lang="en-US" sz="1900" dirty="0"/>
          </a:p>
        </p:txBody>
      </p:sp>
      <p:sp>
        <p:nvSpPr>
          <p:cNvPr id="6" name="Shape 4"/>
          <p:cNvSpPr/>
          <p:nvPr/>
        </p:nvSpPr>
        <p:spPr>
          <a:xfrm>
            <a:off x="812800" y="2301239"/>
            <a:ext cx="10566400" cy="675640"/>
          </a:xfrm>
          <a:prstGeom prst="rect">
            <a:avLst/>
          </a:prstGeom>
          <a:solidFill>
            <a:srgbClr val="FBFAF6"/>
          </a:solidFill>
          <a:ln/>
        </p:spPr>
      </p:sp>
      <p:sp>
        <p:nvSpPr>
          <p:cNvPr id="7" name="Shape 5"/>
          <p:cNvSpPr/>
          <p:nvPr/>
        </p:nvSpPr>
        <p:spPr>
          <a:xfrm>
            <a:off x="11376025" y="2301239"/>
            <a:ext cx="0" cy="675640"/>
          </a:xfrm>
          <a:prstGeom prst="line">
            <a:avLst/>
          </a:prstGeom>
          <a:noFill/>
          <a:ln w="6350">
            <a:solidFill>
              <a:srgbClr val="D6D1C4"/>
            </a:solidFill>
            <a:prstDash val="solid"/>
          </a:ln>
        </p:spPr>
      </p:sp>
      <p:sp>
        <p:nvSpPr>
          <p:cNvPr id="8" name="Shape 6"/>
          <p:cNvSpPr/>
          <p:nvPr/>
        </p:nvSpPr>
        <p:spPr>
          <a:xfrm>
            <a:off x="812800" y="2973704"/>
            <a:ext cx="10566400" cy="0"/>
          </a:xfrm>
          <a:prstGeom prst="line">
            <a:avLst/>
          </a:prstGeom>
          <a:noFill/>
          <a:ln w="6350">
            <a:solidFill>
              <a:srgbClr val="D6D1C4"/>
            </a:solidFill>
            <a:prstDash val="solid"/>
          </a:ln>
        </p:spPr>
      </p:sp>
      <p:sp>
        <p:nvSpPr>
          <p:cNvPr id="9" name="Shape 7"/>
          <p:cNvSpPr/>
          <p:nvPr/>
        </p:nvSpPr>
        <p:spPr>
          <a:xfrm>
            <a:off x="815975" y="2301239"/>
            <a:ext cx="0" cy="675640"/>
          </a:xfrm>
          <a:prstGeom prst="line">
            <a:avLst/>
          </a:prstGeom>
          <a:noFill/>
          <a:ln w="6350">
            <a:solidFill>
              <a:srgbClr val="D6D1C4"/>
            </a:solidFill>
            <a:prstDash val="solid"/>
          </a:ln>
        </p:spPr>
      </p:sp>
      <p:sp>
        <p:nvSpPr>
          <p:cNvPr id="10" name="Text 8"/>
          <p:cNvSpPr/>
          <p:nvPr/>
        </p:nvSpPr>
        <p:spPr>
          <a:xfrm>
            <a:off x="1122680" y="2512061"/>
            <a:ext cx="20929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7A4C"/>
                </a:solidFill>
                <a:latin typeface="IBM Plex Mono" pitchFamily="49" charset="0"/>
                <a:ea typeface="IBM Plex Mono" pitchFamily="49" charset="-122"/>
                <a:cs typeface="IBM Plex Mono" pitchFamily="49" charset="-120"/>
              </a:rPr>
              <a:t>✓ 2026-10-09</a:t>
            </a:r>
            <a:endParaRPr lang="en-US" sz="1400" dirty="0"/>
          </a:p>
        </p:txBody>
      </p:sp>
      <p:sp>
        <p:nvSpPr>
          <p:cNvPr id="11" name="Text 9"/>
          <p:cNvSpPr/>
          <p:nvPr/>
        </p:nvSpPr>
        <p:spPr>
          <a:xfrm>
            <a:off x="3459480" y="2491739"/>
            <a:ext cx="7838135"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5181D"/>
                </a:solidFill>
                <a:latin typeface="IBM Plex Sans" pitchFamily="34" charset="0"/>
                <a:ea typeface="IBM Plex Sans" pitchFamily="34" charset="-122"/>
                <a:cs typeface="IBM Plex Sans" pitchFamily="34" charset="-120"/>
              </a:rPr>
              <a:t>Reviews a public pull request by its address</a:t>
            </a:r>
            <a:endParaRPr lang="en-US" sz="1900" dirty="0"/>
          </a:p>
        </p:txBody>
      </p:sp>
      <p:sp>
        <p:nvSpPr>
          <p:cNvPr id="12" name="Shape 10"/>
          <p:cNvSpPr/>
          <p:nvPr/>
        </p:nvSpPr>
        <p:spPr>
          <a:xfrm>
            <a:off x="812800" y="2976882"/>
            <a:ext cx="10566400" cy="675640"/>
          </a:xfrm>
          <a:custGeom>
            <a:avLst/>
            <a:gdLst/>
            <a:ahLst/>
            <a:cxnLst/>
            <a:rect l="l" t="t" r="r" b="b"/>
            <a:pathLst>
              <a:path w="10566400" h="675640">
                <a:moveTo>
                  <a:pt x="0" y="0"/>
                </a:moveTo>
                <a:lnTo>
                  <a:pt x="10566400" y="0"/>
                </a:lnTo>
                <a:lnTo>
                  <a:pt x="10566400" y="574040"/>
                </a:lnTo>
                <a:arcTo hR="101600" wR="101600" stAng="0" swAng="5400000"/>
                <a:lnTo>
                  <a:pt x="101600" y="675640"/>
                </a:lnTo>
                <a:arcTo hR="101600" wR="101600" stAng="5400000" swAng="5400000"/>
                <a:lnTo>
                  <a:pt x="0" y="0"/>
                </a:lnTo>
                <a:close/>
              </a:path>
            </a:pathLst>
          </a:custGeom>
          <a:solidFill>
            <a:srgbClr val="FBFAF6"/>
          </a:solidFill>
          <a:ln/>
        </p:spPr>
      </p:sp>
      <p:sp>
        <p:nvSpPr>
          <p:cNvPr id="13" name="Shape 11"/>
          <p:cNvSpPr/>
          <p:nvPr/>
        </p:nvSpPr>
        <p:spPr>
          <a:xfrm>
            <a:off x="812800" y="2976882"/>
            <a:ext cx="10566400" cy="675640"/>
          </a:xfrm>
          <a:custGeom>
            <a:avLst/>
            <a:gdLst/>
            <a:ahLst/>
            <a:cxnLst/>
            <a:rect l="l" t="t" r="r" b="b"/>
            <a:pathLst>
              <a:path w="10566400" h="675640">
                <a:moveTo>
                  <a:pt x="10560050" y="0"/>
                </a:moveTo>
                <a:lnTo>
                  <a:pt x="10566400" y="0"/>
                </a:lnTo>
                <a:lnTo>
                  <a:pt x="10566400" y="574040"/>
                </a:lnTo>
                <a:arcTo hR="101600" wR="101600" stAng="0" swAng="5400000"/>
                <a:lnTo>
                  <a:pt x="101600" y="675640"/>
                </a:lnTo>
                <a:arcTo hR="101600" wR="101600" stAng="5400000" swAng="5400000"/>
                <a:lnTo>
                  <a:pt x="0" y="0"/>
                </a:lnTo>
                <a:lnTo>
                  <a:pt x="6350" y="0"/>
                </a:lnTo>
                <a:lnTo>
                  <a:pt x="6350" y="574040"/>
                </a:lnTo>
                <a:arcTo hR="95250" wR="95250" stAng="10800000" swAng="-5400000"/>
                <a:lnTo>
                  <a:pt x="10464800" y="669290"/>
                </a:lnTo>
                <a:arcTo hR="95250" wR="95250" stAng="5400000" swAng="-5400000"/>
                <a:lnTo>
                  <a:pt x="10560050" y="0"/>
                </a:lnTo>
                <a:close/>
              </a:path>
            </a:pathLst>
          </a:custGeom>
          <a:solidFill>
            <a:srgbClr val="D6D1C4"/>
          </a:solidFill>
          <a:ln/>
        </p:spPr>
      </p:sp>
      <p:sp>
        <p:nvSpPr>
          <p:cNvPr id="14" name="Text 12"/>
          <p:cNvSpPr/>
          <p:nvPr/>
        </p:nvSpPr>
        <p:spPr>
          <a:xfrm>
            <a:off x="1122680" y="3187700"/>
            <a:ext cx="20929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561A"/>
                </a:solidFill>
                <a:latin typeface="IBM Plex Mono" pitchFamily="49" charset="0"/>
                <a:ea typeface="IBM Plex Mono" pitchFamily="49" charset="-122"/>
                <a:cs typeface="IBM Plex Mono" pitchFamily="49" charset="-120"/>
              </a:rPr>
              <a:t>Not built yet</a:t>
            </a:r>
            <a:endParaRPr lang="en-US" sz="1400" dirty="0"/>
          </a:p>
        </p:txBody>
      </p:sp>
      <p:sp>
        <p:nvSpPr>
          <p:cNvPr id="15" name="Text 13"/>
          <p:cNvSpPr/>
          <p:nvPr/>
        </p:nvSpPr>
        <p:spPr>
          <a:xfrm>
            <a:off x="3459480" y="3167382"/>
            <a:ext cx="7838135"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5181D"/>
                </a:solidFill>
                <a:latin typeface="IBM Plex Sans" pitchFamily="34" charset="0"/>
                <a:ea typeface="IBM Plex Sans" pitchFamily="34" charset="-122"/>
                <a:cs typeface="IBM Plex Sans" pitchFamily="34" charset="-120"/>
              </a:rPr>
              <a:t>Test runs, then a catch-rate benchmark</a:t>
            </a:r>
            <a:endParaRPr lang="en-US" sz="19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Source: git history. Build milestones, not traction.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Where we differ: nothing hidden, every gap reported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82799"/>
          <a:ext cx="10556240" cy="3129280"/>
        </p:xfrm>
        <a:graphic>
          <a:graphicData uri="http://schemas.openxmlformats.org/drawingml/2006/table">
            <a:tbl>
              <a:tblPr/>
              <a:tblGrid>
                <a:gridCol w="2639060"/>
                <a:gridCol w="2639060"/>
                <a:gridCol w="2639060"/>
                <a:gridCol w="2639060"/>
              </a:tblGrid>
              <a:tr h="444500">
                <a:tc>
                  <a:txBody>
                    <a:bodyPr/>
                    <a:lstStyle/>
                    <a:p>
                      <a:pPr indent="0" marL="0">
                        <a:lnSpc>
                          <a:spcPts val="1820"/>
                        </a:lnSpc>
                        <a:buNone/>
                      </a:pPr>
                      <a:r>
                        <a:rPr lang="en-US" sz="1300" b="1" dirty="0">
                          <a:solidFill>
                            <a:srgbClr val="5D6470"/>
                          </a:solidFill>
                          <a:latin typeface="IBM Plex Sans" pitchFamily="34" charset="0"/>
                          <a:ea typeface="IBM Plex Sans" pitchFamily="34" charset="-122"/>
                          <a:cs typeface="IBM Plex Sans" pitchFamily="34" charset="-120"/>
                        </a:rPr>
                        <a:t>Tool</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820"/>
                        </a:lnSpc>
                        <a:buNone/>
                      </a:pPr>
                      <a:r>
                        <a:rPr lang="en-US" sz="1300" b="1" dirty="0">
                          <a:solidFill>
                            <a:srgbClr val="5D6470"/>
                          </a:solidFill>
                          <a:latin typeface="IBM Plex Sans" pitchFamily="34" charset="0"/>
                          <a:ea typeface="IBM Plex Sans" pitchFamily="34" charset="-122"/>
                          <a:cs typeface="IBM Plex Sans" pitchFamily="34" charset="-120"/>
                        </a:rPr>
                        <a:t>How a finding is checked</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820"/>
                        </a:lnSpc>
                        <a:buNone/>
                      </a:pPr>
                      <a:r>
                        <a:rPr lang="en-US" sz="1300" b="1" dirty="0">
                          <a:solidFill>
                            <a:srgbClr val="5D6470"/>
                          </a:solidFill>
                          <a:latin typeface="IBM Plex Sans" pitchFamily="34" charset="0"/>
                          <a:ea typeface="IBM Plex Sans" pitchFamily="34" charset="-122"/>
                          <a:cs typeface="IBM Plex Sans" pitchFamily="34" charset="-120"/>
                        </a:rPr>
                        <a:t>An unconfirmed finding</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820"/>
                        </a:lnSpc>
                        <a:buNone/>
                      </a:pPr>
                      <a:r>
                        <a:rPr lang="en-US" sz="1300" b="1" dirty="0">
                          <a:solidFill>
                            <a:srgbClr val="5D6470"/>
                          </a:solidFill>
                          <a:latin typeface="IBM Plex Sans" pitchFamily="34" charset="0"/>
                          <a:ea typeface="IBM Plex Sans" pitchFamily="34" charset="-122"/>
                          <a:cs typeface="IBM Plex Sans" pitchFamily="34" charset="-120"/>
                        </a:rPr>
                        <a:t>Entry price</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444500">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CodeRabbit</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Scripts and linters in a sandbox</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Filtered out</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$24 a seat a month</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75640">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Greptile</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Tests written and run in a sandbox</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Not stated</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$30 a seat a month</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44500">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Qodo</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A judge agent</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Filtered out</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Credit-based</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44500">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Claude Code Review</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A verification step</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Filtered out</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5181D"/>
                          </a:solidFill>
                          <a:latin typeface="IBM Plex Sans" pitchFamily="34" charset="0"/>
                          <a:ea typeface="IBM Plex Sans" pitchFamily="34" charset="-122"/>
                          <a:cs typeface="IBM Plex Sans" pitchFamily="34" charset="-120"/>
                        </a:rPr>
                        <a:t>$15–25 a review</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75640">
                <a:tc>
                  <a:txBody>
                    <a:bodyPr/>
                    <a:lstStyle/>
                    <a:p>
                      <a:pPr indent="0" marL="0">
                        <a:lnSpc>
                          <a:spcPts val="1820"/>
                        </a:lnSpc>
                        <a:buNone/>
                      </a:pPr>
                      <a:r>
                        <a:rPr lang="en-US" sz="1300" dirty="0">
                          <a:solidFill>
                            <a:srgbClr val="1D7A4C"/>
                          </a:solidFill>
                          <a:latin typeface="IBM Plex Sans" pitchFamily="34" charset="0"/>
                          <a:ea typeface="IBM Plex Sans" pitchFamily="34" charset="-122"/>
                          <a:cs typeface="IBM Plex Sans" pitchFamily="34" charset="-120"/>
                        </a:rPr>
                        <a:t>Agentic Code Review</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D7A4C"/>
                          </a:solidFill>
                          <a:latin typeface="IBM Plex Sans" pitchFamily="34" charset="0"/>
                          <a:ea typeface="IBM Plex Sans" pitchFamily="34" charset="-122"/>
                          <a:cs typeface="IBM Plex Sans" pitchFamily="34" charset="-120"/>
                        </a:rPr>
                        <a:t>One model pass; the project's own tests next (specified)</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D7A4C"/>
                          </a:solidFill>
                          <a:latin typeface="IBM Plex Sans" pitchFamily="34" charset="0"/>
                          <a:ea typeface="IBM Plex Sans" pitchFamily="34" charset="-122"/>
                          <a:cs typeface="IBM Plex Sans" pitchFamily="34" charset="-120"/>
                        </a:rPr>
                        <a:t>Kept, labelled "unverified"</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D7A4C"/>
                          </a:solidFill>
                          <a:latin typeface="IBM Plex Sans" pitchFamily="34" charset="0"/>
                          <a:ea typeface="IBM Plex Sans" pitchFamily="34" charset="-122"/>
                          <a:cs typeface="IBM Plex Sans" pitchFamily="34" charset="-120"/>
                        </a:rPr>
                        <a:t>$22 a seat a month</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4" name="Text 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Sources: each vendor's own pages, read 2026-10-10. Rivals verify more than our build does today.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E8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Team members</a:t>
            </a:r>
            <a:endParaRPr lang="en-US" sz="3600" dirty="0"/>
          </a:p>
        </p:txBody>
      </p:sp>
      <p:sp>
        <p:nvSpPr>
          <p:cNvPr id="3" name="Shape 1"/>
          <p:cNvSpPr/>
          <p:nvPr/>
        </p:nvSpPr>
        <p:spPr>
          <a:xfrm>
            <a:off x="815975" y="2555875"/>
            <a:ext cx="3517900" cy="977900"/>
          </a:xfrm>
          <a:prstGeom prst="roundRect">
            <a:avLst>
              <a:gd name="adj" fmla="val 10065"/>
            </a:avLst>
          </a:prstGeom>
          <a:solidFill>
            <a:srgbClr val="FBFAF6"/>
          </a:solidFill>
          <a:ln w="6350">
            <a:solidFill>
              <a:srgbClr val="D6D1C4"/>
            </a:solidFill>
            <a:prstDash val="solid"/>
          </a:ln>
        </p:spPr>
      </p:sp>
      <p:sp>
        <p:nvSpPr>
          <p:cNvPr id="4" name="Text 2"/>
          <p:cNvSpPr/>
          <p:nvPr/>
        </p:nvSpPr>
        <p:spPr>
          <a:xfrm>
            <a:off x="1021080" y="2762250"/>
            <a:ext cx="32009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D"/>
                </a:solidFill>
                <a:latin typeface="IBM Plex Sans" pitchFamily="34" charset="0"/>
                <a:ea typeface="IBM Plex Sans" pitchFamily="34" charset="-122"/>
                <a:cs typeface="IBM Plex Sans" pitchFamily="34" charset="-120"/>
              </a:rPr>
              <a:t>Ahmed Shahin</a:t>
            </a:r>
            <a:endParaRPr lang="en-US" sz="1800" dirty="0"/>
          </a:p>
        </p:txBody>
      </p:sp>
      <p:sp>
        <p:nvSpPr>
          <p:cNvPr id="5" name="Text 3"/>
          <p:cNvSpPr/>
          <p:nvPr/>
        </p:nvSpPr>
        <p:spPr>
          <a:xfrm>
            <a:off x="1021080" y="3112771"/>
            <a:ext cx="3200921"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470"/>
                </a:solidFill>
                <a:latin typeface="IBM Plex Mono" pitchFamily="49" charset="0"/>
                <a:ea typeface="IBM Plex Mono" pitchFamily="49" charset="-122"/>
                <a:cs typeface="IBM Plex Mono" pitchFamily="49" charset="-120"/>
              </a:rPr>
              <a:t>Sales manager</a:t>
            </a:r>
            <a:endParaRPr lang="en-US" sz="1300" dirty="0"/>
          </a:p>
        </p:txBody>
      </p:sp>
      <p:sp>
        <p:nvSpPr>
          <p:cNvPr id="6" name="Shape 4"/>
          <p:cNvSpPr/>
          <p:nvPr/>
        </p:nvSpPr>
        <p:spPr>
          <a:xfrm>
            <a:off x="815975" y="1571625"/>
            <a:ext cx="3517900" cy="977900"/>
          </a:xfrm>
          <a:prstGeom prst="roundRect">
            <a:avLst>
              <a:gd name="adj" fmla="val 10065"/>
            </a:avLst>
          </a:prstGeom>
          <a:solidFill>
            <a:srgbClr val="FBFAF6"/>
          </a:solidFill>
          <a:ln w="6350">
            <a:solidFill>
              <a:srgbClr val="D6D1C4"/>
            </a:solidFill>
            <a:prstDash val="solid"/>
          </a:ln>
        </p:spPr>
      </p:sp>
      <p:sp>
        <p:nvSpPr>
          <p:cNvPr id="7" name="Text 5"/>
          <p:cNvSpPr/>
          <p:nvPr/>
        </p:nvSpPr>
        <p:spPr>
          <a:xfrm>
            <a:off x="1021080" y="1778000"/>
            <a:ext cx="32009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D"/>
                </a:solidFill>
                <a:latin typeface="IBM Plex Sans" pitchFamily="34" charset="0"/>
                <a:ea typeface="IBM Plex Sans" pitchFamily="34" charset="-122"/>
                <a:cs typeface="IBM Plex Sans" pitchFamily="34" charset="-120"/>
              </a:rPr>
              <a:t>Mohammed Gamal Kenawy</a:t>
            </a:r>
            <a:endParaRPr lang="en-US" sz="1800" dirty="0"/>
          </a:p>
        </p:txBody>
      </p:sp>
      <p:sp>
        <p:nvSpPr>
          <p:cNvPr id="8" name="Text 6"/>
          <p:cNvSpPr/>
          <p:nvPr/>
        </p:nvSpPr>
        <p:spPr>
          <a:xfrm>
            <a:off x="1021080" y="2128521"/>
            <a:ext cx="3200921"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D7A4C"/>
                </a:solidFill>
                <a:latin typeface="IBM Plex Mono" pitchFamily="49" charset="0"/>
                <a:ea typeface="IBM Plex Mono" pitchFamily="49" charset="-122"/>
                <a:cs typeface="IBM Plex Mono" pitchFamily="49" charset="-120"/>
              </a:rPr>
              <a:t>Team leader · Junior engineer</a:t>
            </a:r>
            <a:endParaRPr lang="en-US" sz="1300" dirty="0"/>
          </a:p>
        </p:txBody>
      </p:sp>
      <p:sp>
        <p:nvSpPr>
          <p:cNvPr id="9" name="Shape 7"/>
          <p:cNvSpPr/>
          <p:nvPr/>
        </p:nvSpPr>
        <p:spPr>
          <a:xfrm>
            <a:off x="4340225" y="1571625"/>
            <a:ext cx="3517900" cy="977900"/>
          </a:xfrm>
          <a:prstGeom prst="roundRect">
            <a:avLst>
              <a:gd name="adj" fmla="val 10065"/>
            </a:avLst>
          </a:prstGeom>
          <a:solidFill>
            <a:srgbClr val="FBFAF6"/>
          </a:solidFill>
          <a:ln w="6350">
            <a:solidFill>
              <a:srgbClr val="D6D1C4"/>
            </a:solidFill>
            <a:prstDash val="solid"/>
          </a:ln>
        </p:spPr>
      </p:sp>
      <p:sp>
        <p:nvSpPr>
          <p:cNvPr id="10" name="Text 8"/>
          <p:cNvSpPr/>
          <p:nvPr/>
        </p:nvSpPr>
        <p:spPr>
          <a:xfrm>
            <a:off x="4545330" y="1778000"/>
            <a:ext cx="32009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D"/>
                </a:solidFill>
                <a:latin typeface="IBM Plex Sans" pitchFamily="34" charset="0"/>
                <a:ea typeface="IBM Plex Sans" pitchFamily="34" charset="-122"/>
                <a:cs typeface="IBM Plex Sans" pitchFamily="34" charset="-120"/>
              </a:rPr>
              <a:t>Mahmoud Ayman Mahmoud</a:t>
            </a:r>
            <a:endParaRPr lang="en-US" sz="1800" dirty="0"/>
          </a:p>
        </p:txBody>
      </p:sp>
      <p:sp>
        <p:nvSpPr>
          <p:cNvPr id="11" name="Text 9"/>
          <p:cNvSpPr/>
          <p:nvPr/>
        </p:nvSpPr>
        <p:spPr>
          <a:xfrm>
            <a:off x="4545330" y="2128521"/>
            <a:ext cx="3200921"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470"/>
                </a:solidFill>
                <a:latin typeface="IBM Plex Mono" pitchFamily="49" charset="0"/>
                <a:ea typeface="IBM Plex Mono" pitchFamily="49" charset="-122"/>
                <a:cs typeface="IBM Plex Mono" pitchFamily="49" charset="-120"/>
              </a:rPr>
              <a:t>Junior software engineer</a:t>
            </a:r>
            <a:endParaRPr lang="en-US" sz="1300" dirty="0"/>
          </a:p>
        </p:txBody>
      </p:sp>
      <p:sp>
        <p:nvSpPr>
          <p:cNvPr id="12" name="Shape 10"/>
          <p:cNvSpPr/>
          <p:nvPr/>
        </p:nvSpPr>
        <p:spPr>
          <a:xfrm>
            <a:off x="7858125" y="2555875"/>
            <a:ext cx="3517900" cy="977900"/>
          </a:xfrm>
          <a:prstGeom prst="roundRect">
            <a:avLst>
              <a:gd name="adj" fmla="val 10065"/>
            </a:avLst>
          </a:prstGeom>
          <a:solidFill>
            <a:srgbClr val="FBFAF6"/>
          </a:solidFill>
          <a:ln w="6350">
            <a:solidFill>
              <a:srgbClr val="D6D1C4"/>
            </a:solidFill>
            <a:prstDash val="solid"/>
          </a:ln>
        </p:spPr>
      </p:sp>
      <p:sp>
        <p:nvSpPr>
          <p:cNvPr id="13" name="Text 11"/>
          <p:cNvSpPr/>
          <p:nvPr/>
        </p:nvSpPr>
        <p:spPr>
          <a:xfrm>
            <a:off x="8063230" y="2762250"/>
            <a:ext cx="32009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D"/>
                </a:solidFill>
                <a:latin typeface="IBM Plex Sans" pitchFamily="34" charset="0"/>
                <a:ea typeface="IBM Plex Sans" pitchFamily="34" charset="-122"/>
                <a:cs typeface="IBM Plex Sans" pitchFamily="34" charset="-120"/>
              </a:rPr>
              <a:t>Yahia Ahmed Hamed</a:t>
            </a:r>
            <a:endParaRPr lang="en-US" sz="1800" dirty="0"/>
          </a:p>
        </p:txBody>
      </p:sp>
      <p:sp>
        <p:nvSpPr>
          <p:cNvPr id="14" name="Text 12"/>
          <p:cNvSpPr/>
          <p:nvPr/>
        </p:nvSpPr>
        <p:spPr>
          <a:xfrm>
            <a:off x="8063230" y="3112771"/>
            <a:ext cx="3200921"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470"/>
                </a:solidFill>
                <a:latin typeface="IBM Plex Mono" pitchFamily="49" charset="0"/>
                <a:ea typeface="IBM Plex Mono" pitchFamily="49" charset="-122"/>
                <a:cs typeface="IBM Plex Mono" pitchFamily="49" charset="-120"/>
              </a:rPr>
              <a:t>Junior software engineer</a:t>
            </a:r>
            <a:endParaRPr lang="en-US" sz="1300" dirty="0"/>
          </a:p>
        </p:txBody>
      </p:sp>
      <p:sp>
        <p:nvSpPr>
          <p:cNvPr id="15" name="Shape 13"/>
          <p:cNvSpPr/>
          <p:nvPr/>
        </p:nvSpPr>
        <p:spPr>
          <a:xfrm>
            <a:off x="7864475" y="1571625"/>
            <a:ext cx="3517900" cy="977900"/>
          </a:xfrm>
          <a:prstGeom prst="roundRect">
            <a:avLst>
              <a:gd name="adj" fmla="val 10065"/>
            </a:avLst>
          </a:prstGeom>
          <a:solidFill>
            <a:srgbClr val="FBFAF6"/>
          </a:solidFill>
          <a:ln w="6350">
            <a:solidFill>
              <a:srgbClr val="D6D1C4"/>
            </a:solidFill>
            <a:prstDash val="solid"/>
          </a:ln>
        </p:spPr>
      </p:sp>
      <p:sp>
        <p:nvSpPr>
          <p:cNvPr id="16" name="Text 14"/>
          <p:cNvSpPr/>
          <p:nvPr/>
        </p:nvSpPr>
        <p:spPr>
          <a:xfrm>
            <a:off x="8069580" y="1778000"/>
            <a:ext cx="32009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D"/>
                </a:solidFill>
                <a:latin typeface="IBM Plex Sans" pitchFamily="34" charset="0"/>
                <a:ea typeface="IBM Plex Sans" pitchFamily="34" charset="-122"/>
                <a:cs typeface="IBM Plex Sans" pitchFamily="34" charset="-120"/>
              </a:rPr>
              <a:t>Mohamed Ali Mahmoud</a:t>
            </a:r>
            <a:endParaRPr lang="en-US" sz="1800" dirty="0"/>
          </a:p>
        </p:txBody>
      </p:sp>
      <p:sp>
        <p:nvSpPr>
          <p:cNvPr id="17" name="Text 15"/>
          <p:cNvSpPr/>
          <p:nvPr/>
        </p:nvSpPr>
        <p:spPr>
          <a:xfrm>
            <a:off x="8069580" y="2128521"/>
            <a:ext cx="3200921"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470"/>
                </a:solidFill>
                <a:latin typeface="IBM Plex Mono" pitchFamily="49" charset="0"/>
                <a:ea typeface="IBM Plex Mono" pitchFamily="49" charset="-122"/>
                <a:cs typeface="IBM Plex Mono" pitchFamily="49" charset="-120"/>
              </a:rPr>
              <a:t>Senior Oracle developer</a:t>
            </a:r>
            <a:endParaRPr lang="en-US" sz="1300" dirty="0"/>
          </a:p>
        </p:txBody>
      </p:sp>
      <p:sp>
        <p:nvSpPr>
          <p:cNvPr id="18" name="Shape 16"/>
          <p:cNvSpPr/>
          <p:nvPr/>
        </p:nvSpPr>
        <p:spPr>
          <a:xfrm>
            <a:off x="4340225" y="2555875"/>
            <a:ext cx="3517900" cy="977900"/>
          </a:xfrm>
          <a:prstGeom prst="roundRect">
            <a:avLst>
              <a:gd name="adj" fmla="val 10065"/>
            </a:avLst>
          </a:prstGeom>
          <a:solidFill>
            <a:srgbClr val="FBFAF6"/>
          </a:solidFill>
          <a:ln w="6350">
            <a:solidFill>
              <a:srgbClr val="D6D1C4"/>
            </a:solidFill>
            <a:prstDash val="solid"/>
          </a:ln>
        </p:spPr>
      </p:sp>
      <p:sp>
        <p:nvSpPr>
          <p:cNvPr id="19" name="Text 17"/>
          <p:cNvSpPr/>
          <p:nvPr/>
        </p:nvSpPr>
        <p:spPr>
          <a:xfrm>
            <a:off x="4545330" y="2762250"/>
            <a:ext cx="32009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D"/>
                </a:solidFill>
                <a:latin typeface="IBM Plex Sans" pitchFamily="34" charset="0"/>
                <a:ea typeface="IBM Plex Sans" pitchFamily="34" charset="-122"/>
                <a:cs typeface="IBM Plex Sans" pitchFamily="34" charset="-120"/>
              </a:rPr>
              <a:t>Abdelrahman Ehab</a:t>
            </a:r>
            <a:endParaRPr lang="en-US" sz="1800" dirty="0"/>
          </a:p>
        </p:txBody>
      </p:sp>
      <p:sp>
        <p:nvSpPr>
          <p:cNvPr id="20" name="Text 18"/>
          <p:cNvSpPr/>
          <p:nvPr/>
        </p:nvSpPr>
        <p:spPr>
          <a:xfrm>
            <a:off x="4545330" y="3112771"/>
            <a:ext cx="3200921"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D6470"/>
                </a:solidFill>
                <a:latin typeface="IBM Plex Mono" pitchFamily="49" charset="0"/>
                <a:ea typeface="IBM Plex Mono" pitchFamily="49" charset="-122"/>
                <a:cs typeface="IBM Plex Mono" pitchFamily="49" charset="-120"/>
              </a:rPr>
              <a:t>Junior software engineer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D"/>
                </a:solidFill>
                <a:latin typeface="IBM Plex Sans" pitchFamily="34" charset="0"/>
                <a:ea typeface="IBM Plex Sans" pitchFamily="34" charset="-122"/>
                <a:cs typeface="IBM Plex Sans" pitchFamily="34" charset="-120"/>
              </a:rPr>
              <a:t>At $22 a seat, six seats cover fixed costs</a:t>
            </a:r>
            <a:endParaRPr lang="en-US" sz="3600" dirty="0"/>
          </a:p>
        </p:txBody>
      </p:sp>
      <p:sp>
        <p:nvSpPr>
          <p:cNvPr id="3" name="Shape 1"/>
          <p:cNvSpPr/>
          <p:nvPr/>
        </p:nvSpPr>
        <p:spPr>
          <a:xfrm>
            <a:off x="815975" y="1547496"/>
            <a:ext cx="3414157" cy="1703070"/>
          </a:xfrm>
          <a:prstGeom prst="roundRect">
            <a:avLst>
              <a:gd name="adj" fmla="val 5779"/>
            </a:avLst>
          </a:prstGeom>
          <a:solidFill>
            <a:srgbClr val="FBFAF6"/>
          </a:solidFill>
          <a:ln w="6350">
            <a:solidFill>
              <a:srgbClr val="DDD9CF"/>
            </a:solidFill>
            <a:prstDash val="solid"/>
          </a:ln>
        </p:spPr>
      </p:sp>
      <p:sp>
        <p:nvSpPr>
          <p:cNvPr id="4" name="Text 2"/>
          <p:cNvSpPr/>
          <p:nvPr/>
        </p:nvSpPr>
        <p:spPr>
          <a:xfrm>
            <a:off x="1046480" y="1752600"/>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D6470"/>
                </a:solidFill>
                <a:latin typeface="IBM Plex Mono" pitchFamily="49" charset="0"/>
                <a:ea typeface="IBM Plex Mono" pitchFamily="49" charset="-122"/>
                <a:cs typeface="IBM Plex Mono" pitchFamily="49" charset="-120"/>
              </a:rPr>
              <a:t>A SEAT PAYS</a:t>
            </a:r>
            <a:endParaRPr lang="en-US" sz="1300" dirty="0"/>
          </a:p>
        </p:txBody>
      </p:sp>
      <p:sp>
        <p:nvSpPr>
          <p:cNvPr id="5" name="Text 3"/>
          <p:cNvSpPr/>
          <p:nvPr/>
        </p:nvSpPr>
        <p:spPr>
          <a:xfrm>
            <a:off x="1046480" y="2059942"/>
            <a:ext cx="3041741"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D7A4C"/>
                </a:solidFill>
                <a:latin typeface="IBM Plex Sans" pitchFamily="34" charset="0"/>
                <a:ea typeface="IBM Plex Sans" pitchFamily="34" charset="-122"/>
                <a:cs typeface="IBM Plex Sans" pitchFamily="34" charset="-120"/>
              </a:rPr>
              <a:t>$22</a:t>
            </a:r>
            <a:endParaRPr lang="en-US" sz="3200" dirty="0"/>
          </a:p>
        </p:txBody>
      </p:sp>
      <p:sp>
        <p:nvSpPr>
          <p:cNvPr id="6" name="Text 4"/>
          <p:cNvSpPr/>
          <p:nvPr/>
        </p:nvSpPr>
        <p:spPr>
          <a:xfrm>
            <a:off x="1046480" y="2583179"/>
            <a:ext cx="3041741"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B4250"/>
                </a:solidFill>
                <a:latin typeface="IBM Plex Sans" pitchFamily="34" charset="0"/>
                <a:ea typeface="IBM Plex Sans" pitchFamily="34" charset="-122"/>
                <a:cs typeface="IBM Plex Sans" pitchFamily="34" charset="-120"/>
              </a:rPr>
              <a:t>a month, just under CodeRabbit's $24</a:t>
            </a:r>
            <a:endParaRPr lang="en-US" sz="1400" dirty="0"/>
          </a:p>
        </p:txBody>
      </p:sp>
      <p:sp>
        <p:nvSpPr>
          <p:cNvPr id="7" name="Shape 5"/>
          <p:cNvSpPr/>
          <p:nvPr/>
        </p:nvSpPr>
        <p:spPr>
          <a:xfrm>
            <a:off x="4388882" y="1547496"/>
            <a:ext cx="3414236" cy="1703070"/>
          </a:xfrm>
          <a:prstGeom prst="roundRect">
            <a:avLst>
              <a:gd name="adj" fmla="val 5779"/>
            </a:avLst>
          </a:prstGeom>
          <a:solidFill>
            <a:srgbClr val="FBFAF6"/>
          </a:solidFill>
          <a:ln w="6350">
            <a:solidFill>
              <a:srgbClr val="DDD9CF"/>
            </a:solidFill>
            <a:prstDash val="solid"/>
          </a:ln>
        </p:spPr>
      </p:sp>
      <p:sp>
        <p:nvSpPr>
          <p:cNvPr id="8" name="Text 6"/>
          <p:cNvSpPr/>
          <p:nvPr/>
        </p:nvSpPr>
        <p:spPr>
          <a:xfrm>
            <a:off x="4619387" y="1752600"/>
            <a:ext cx="3041823"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D6470"/>
                </a:solidFill>
                <a:latin typeface="IBM Plex Mono" pitchFamily="49" charset="0"/>
                <a:ea typeface="IBM Plex Mono" pitchFamily="49" charset="-122"/>
                <a:cs typeface="IBM Plex Mono" pitchFamily="49" charset="-120"/>
              </a:rPr>
              <a:t>A SEAT COSTS</a:t>
            </a:r>
            <a:endParaRPr lang="en-US" sz="1300" dirty="0"/>
          </a:p>
        </p:txBody>
      </p:sp>
      <p:sp>
        <p:nvSpPr>
          <p:cNvPr id="9" name="Text 7"/>
          <p:cNvSpPr/>
          <p:nvPr/>
        </p:nvSpPr>
        <p:spPr>
          <a:xfrm>
            <a:off x="4619387" y="2059942"/>
            <a:ext cx="304182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5181D"/>
                </a:solidFill>
                <a:latin typeface="IBM Plex Sans" pitchFamily="34" charset="0"/>
                <a:ea typeface="IBM Plex Sans" pitchFamily="34" charset="-122"/>
                <a:cs typeface="IBM Plex Sans" pitchFamily="34" charset="-120"/>
              </a:rPr>
              <a:t>$1.14–$5.81</a:t>
            </a:r>
            <a:endParaRPr lang="en-US" sz="3200" dirty="0"/>
          </a:p>
        </p:txBody>
      </p:sp>
      <p:sp>
        <p:nvSpPr>
          <p:cNvPr id="10" name="Text 8"/>
          <p:cNvSpPr/>
          <p:nvPr/>
        </p:nvSpPr>
        <p:spPr>
          <a:xfrm>
            <a:off x="4619387" y="2583179"/>
            <a:ext cx="3041823"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B4250"/>
                </a:solidFill>
                <a:latin typeface="IBM Plex Sans" pitchFamily="34" charset="0"/>
                <a:ea typeface="IBM Plex Sans" pitchFamily="34" charset="-122"/>
                <a:cs typeface="IBM Plex Sans" pitchFamily="34" charset="-120"/>
              </a:rPr>
              <a:t>a month, for 25 to 75 reviews</a:t>
            </a:r>
            <a:endParaRPr lang="en-US" sz="1400" dirty="0"/>
          </a:p>
        </p:txBody>
      </p:sp>
      <p:sp>
        <p:nvSpPr>
          <p:cNvPr id="11" name="Shape 9"/>
          <p:cNvSpPr/>
          <p:nvPr/>
        </p:nvSpPr>
        <p:spPr>
          <a:xfrm>
            <a:off x="7961868" y="1547496"/>
            <a:ext cx="3414157" cy="1703070"/>
          </a:xfrm>
          <a:prstGeom prst="roundRect">
            <a:avLst>
              <a:gd name="adj" fmla="val 5779"/>
            </a:avLst>
          </a:prstGeom>
          <a:solidFill>
            <a:srgbClr val="FBFAF6"/>
          </a:solidFill>
          <a:ln w="6350">
            <a:solidFill>
              <a:srgbClr val="DDD9CF"/>
            </a:solidFill>
            <a:prstDash val="solid"/>
          </a:ln>
        </p:spPr>
      </p:sp>
      <p:sp>
        <p:nvSpPr>
          <p:cNvPr id="12" name="Text 10"/>
          <p:cNvSpPr/>
          <p:nvPr/>
        </p:nvSpPr>
        <p:spPr>
          <a:xfrm>
            <a:off x="8192374" y="1752600"/>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D6470"/>
                </a:solidFill>
                <a:latin typeface="IBM Plex Mono" pitchFamily="49" charset="0"/>
                <a:ea typeface="IBM Plex Mono" pitchFamily="49" charset="-122"/>
                <a:cs typeface="IBM Plex Mono" pitchFamily="49" charset="-120"/>
              </a:rPr>
              <a:t>A SEAT LEAVES</a:t>
            </a:r>
            <a:endParaRPr lang="en-US" sz="1300" dirty="0"/>
          </a:p>
        </p:txBody>
      </p:sp>
      <p:sp>
        <p:nvSpPr>
          <p:cNvPr id="13" name="Text 11"/>
          <p:cNvSpPr/>
          <p:nvPr/>
        </p:nvSpPr>
        <p:spPr>
          <a:xfrm>
            <a:off x="8192374" y="2059942"/>
            <a:ext cx="3041741"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5181D"/>
                </a:solidFill>
                <a:latin typeface="IBM Plex Sans" pitchFamily="34" charset="0"/>
                <a:ea typeface="IBM Plex Sans" pitchFamily="34" charset="-122"/>
                <a:cs typeface="IBM Plex Sans" pitchFamily="34" charset="-120"/>
              </a:rPr>
              <a:t>$16–$21</a:t>
            </a:r>
            <a:endParaRPr lang="en-US" sz="3200" dirty="0"/>
          </a:p>
        </p:txBody>
      </p:sp>
      <p:sp>
        <p:nvSpPr>
          <p:cNvPr id="14" name="Text 12"/>
          <p:cNvSpPr/>
          <p:nvPr/>
        </p:nvSpPr>
        <p:spPr>
          <a:xfrm>
            <a:off x="8192374" y="2583179"/>
            <a:ext cx="304174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B4250"/>
                </a:solidFill>
                <a:latin typeface="IBM Plex Sans" pitchFamily="34" charset="0"/>
                <a:ea typeface="IBM Plex Sans" pitchFamily="34" charset="-122"/>
                <a:cs typeface="IBM Plex Sans" pitchFamily="34" charset="-120"/>
              </a:rPr>
              <a:t>74% to 95% of the price</a:t>
            </a:r>
            <a:endParaRPr lang="en-US" sz="1400" dirty="0"/>
          </a:p>
        </p:txBody>
      </p:sp>
      <p:sp>
        <p:nvSpPr>
          <p:cNvPr id="15" name="Shape 13"/>
          <p:cNvSpPr/>
          <p:nvPr/>
        </p:nvSpPr>
        <p:spPr>
          <a:xfrm>
            <a:off x="812800" y="3482342"/>
            <a:ext cx="10566400" cy="619760"/>
          </a:xfrm>
          <a:prstGeom prst="roundRect">
            <a:avLst>
              <a:gd name="adj" fmla="val 16393"/>
            </a:avLst>
          </a:prstGeom>
          <a:solidFill>
            <a:srgbClr val="15181D"/>
          </a:solidFill>
          <a:ln/>
        </p:spPr>
      </p:sp>
      <p:sp>
        <p:nvSpPr>
          <p:cNvPr id="16" name="Text 14"/>
          <p:cNvSpPr/>
          <p:nvPr/>
        </p:nvSpPr>
        <p:spPr>
          <a:xfrm>
            <a:off x="1066800" y="3660142"/>
            <a:ext cx="6989485"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C9C6BD"/>
                </a:solidFill>
                <a:latin typeface="IBM Plex Sans" pitchFamily="34" charset="0"/>
                <a:ea typeface="IBM Plex Sans" pitchFamily="34" charset="-122"/>
                <a:cs typeface="IBM Plex Sans" pitchFamily="34" charset="-120"/>
              </a:rPr>
              <a:t>Fixed Costs - Always-on infrastructure: </a:t>
            </a:r>
            <a:r>
              <a:rPr lang="en-US" sz="1600" b="1" dirty="0">
                <a:solidFill>
                  <a:srgbClr val="F4F2EC"/>
                </a:solidFill>
                <a:latin typeface="IBM Plex Sans" pitchFamily="34" charset="0"/>
                <a:ea typeface="IBM Plex Sans" pitchFamily="34" charset="-122"/>
                <a:cs typeface="IBM Plex Sans" pitchFamily="34" charset="-120"/>
              </a:rPr>
              <a:t>$96.36</a:t>
            </a:r>
            <a:r>
              <a:rPr lang="en-US" sz="1600" dirty="0">
                <a:solidFill>
                  <a:srgbClr val="C9C6BD"/>
                </a:solidFill>
                <a:latin typeface="IBM Plex Sans" pitchFamily="34" charset="0"/>
                <a:ea typeface="IBM Plex Sans" pitchFamily="34" charset="-122"/>
                <a:cs typeface="IBM Plex Sans" pitchFamily="34" charset="-120"/>
              </a:rPr>
              <a:t> a month, estimated</a:t>
            </a:r>
            <a:endParaRPr lang="en-US" sz="1600" dirty="0"/>
          </a:p>
        </p:txBody>
      </p:sp>
      <p:sp>
        <p:nvSpPr>
          <p:cNvPr id="17" name="Text 15"/>
          <p:cNvSpPr/>
          <p:nvPr/>
        </p:nvSpPr>
        <p:spPr>
          <a:xfrm>
            <a:off x="8537924" y="3660142"/>
            <a:ext cx="2587276" cy="289560"/>
          </a:xfrm>
          <a:prstGeom prst="rect">
            <a:avLst/>
          </a:prstGeom>
          <a:noFill/>
          <a:ln/>
        </p:spPr>
        <p:txBody>
          <a:bodyPr wrap="square" lIns="0" tIns="0" rIns="0" bIns="0" rtlCol="0" anchor="t">
            <a:normAutofit/>
          </a:bodyPr>
          <a:lstStyle/>
          <a:p>
            <a:pPr algn="r" indent="0" marL="0">
              <a:lnSpc>
                <a:spcPts val="2080"/>
              </a:lnSpc>
              <a:buNone/>
            </a:pPr>
            <a:r>
              <a:rPr lang="en-US" sz="1600" dirty="0">
                <a:solidFill>
                  <a:srgbClr val="F4F2EC"/>
                </a:solidFill>
                <a:latin typeface="IBM Plex Sans" pitchFamily="34" charset="0"/>
                <a:ea typeface="IBM Plex Sans" pitchFamily="34" charset="-122"/>
                <a:cs typeface="IBM Plex Sans" pitchFamily="34" charset="-120"/>
              </a:rPr>
              <a:t>Covered by </a:t>
            </a:r>
            <a:r>
              <a:rPr lang="en-US" sz="1600" b="1" dirty="0">
                <a:solidFill>
                  <a:srgbClr val="F4F2EC"/>
                </a:solidFill>
                <a:latin typeface="IBM Plex Sans" pitchFamily="34" charset="0"/>
                <a:ea typeface="IBM Plex Sans" pitchFamily="34" charset="-122"/>
                <a:cs typeface="IBM Plex Sans" pitchFamily="34" charset="-120"/>
              </a:rPr>
              <a:t>5 to 6 seats</a:t>
            </a:r>
            <a:endParaRPr lang="en-US" sz="1600" dirty="0"/>
          </a:p>
        </p:txBody>
      </p:sp>
      <p:sp>
        <p:nvSpPr>
          <p:cNvPr id="18" name="Text 16"/>
          <p:cNvSpPr/>
          <p:nvPr/>
        </p:nvSpPr>
        <p:spPr>
          <a:xfrm>
            <a:off x="812800" y="6024879"/>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Costs: two measured runs, 25 to 75 reviews a seat, one assumed server; 2026 prices. Forecast: CodeRabbit's reported funding and Sacra's revenue estimates, at our price. We have no traction and have raised nothing.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81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IBM Plex Sans" pitchFamily="34" charset="0"/>
                <a:ea typeface="IBM Plex Sans" pitchFamily="34" charset="-122"/>
                <a:cs typeface="IBM Plex Sans" pitchFamily="34" charset="-120"/>
              </a:rPr>
              <a:t>We ask for $300 and six pilot teams</a:t>
            </a:r>
            <a:endParaRPr lang="en-US" sz="3600" dirty="0"/>
          </a:p>
        </p:txBody>
      </p:sp>
      <p:sp>
        <p:nvSpPr>
          <p:cNvPr id="3" name="Text 1"/>
          <p:cNvSpPr/>
          <p:nvPr/>
        </p:nvSpPr>
        <p:spPr>
          <a:xfrm>
            <a:off x="812800" y="1544321"/>
            <a:ext cx="104648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6BD"/>
                </a:solidFill>
                <a:latin typeface="IBM Plex Sans" pitchFamily="34" charset="0"/>
                <a:ea typeface="IBM Plex Sans" pitchFamily="34" charset="-122"/>
                <a:cs typeface="IBM Plex Sans" pitchFamily="34" charset="-120"/>
              </a:rPr>
              <a:t>Six teams run it on their real changes for 8 weeks from 1 January 2027. By 28 February 2027: 1,000 reviews, with 20% of findings acted on.</a:t>
            </a:r>
            <a:endParaRPr lang="en-US" sz="1600" dirty="0"/>
          </a:p>
        </p:txBody>
      </p:sp>
      <p:sp>
        <p:nvSpPr>
          <p:cNvPr id="4" name="Shape 2"/>
          <p:cNvSpPr/>
          <p:nvPr/>
        </p:nvSpPr>
        <p:spPr>
          <a:xfrm>
            <a:off x="819150" y="2348229"/>
            <a:ext cx="2476500" cy="1628140"/>
          </a:xfrm>
          <a:prstGeom prst="roundRect">
            <a:avLst>
              <a:gd name="adj" fmla="val 5850"/>
            </a:avLst>
          </a:prstGeom>
          <a:noFill/>
          <a:ln w="12700">
            <a:solidFill>
              <a:srgbClr val="F0A04B"/>
            </a:solidFill>
            <a:prstDash val="solid"/>
          </a:ln>
        </p:spPr>
      </p:sp>
      <p:sp>
        <p:nvSpPr>
          <p:cNvPr id="5" name="Text 3"/>
          <p:cNvSpPr/>
          <p:nvPr/>
        </p:nvSpPr>
        <p:spPr>
          <a:xfrm>
            <a:off x="1076960" y="2555242"/>
            <a:ext cx="2019707"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A04B"/>
                </a:solidFill>
                <a:latin typeface="IBM Plex Mono" pitchFamily="49" charset="0"/>
                <a:ea typeface="IBM Plex Mono" pitchFamily="49" charset="-122"/>
                <a:cs typeface="IBM Plex Mono" pitchFamily="49" charset="-120"/>
              </a:rPr>
              <a:t>REVIEWS</a:t>
            </a:r>
            <a:endParaRPr lang="en-US" sz="1400" dirty="0"/>
          </a:p>
        </p:txBody>
      </p:sp>
      <p:sp>
        <p:nvSpPr>
          <p:cNvPr id="6" name="Text 4"/>
          <p:cNvSpPr/>
          <p:nvPr/>
        </p:nvSpPr>
        <p:spPr>
          <a:xfrm>
            <a:off x="1076960" y="2880364"/>
            <a:ext cx="2019707" cy="37592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4F2EC"/>
                </a:solidFill>
                <a:latin typeface="IBM Plex Sans" pitchFamily="34" charset="0"/>
                <a:ea typeface="IBM Plex Sans" pitchFamily="34" charset="-122"/>
                <a:cs typeface="IBM Plex Sans" pitchFamily="34" charset="-120"/>
              </a:rPr>
              <a:t>$80</a:t>
            </a:r>
            <a:endParaRPr lang="en-US" sz="2400" dirty="0"/>
          </a:p>
        </p:txBody>
      </p:sp>
      <p:sp>
        <p:nvSpPr>
          <p:cNvPr id="7" name="Text 5"/>
          <p:cNvSpPr/>
          <p:nvPr/>
        </p:nvSpPr>
        <p:spPr>
          <a:xfrm>
            <a:off x="1076960" y="3307079"/>
            <a:ext cx="201970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C6BD"/>
                </a:solidFill>
                <a:latin typeface="IBM Plex Sans" pitchFamily="34" charset="0"/>
                <a:ea typeface="IBM Plex Sans" pitchFamily="34" charset="-122"/>
                <a:cs typeface="IBM Plex Sans" pitchFamily="34" charset="-120"/>
              </a:rPr>
              <a:t>1,000 reviews × $0.08</a:t>
            </a:r>
            <a:endParaRPr lang="en-US" sz="1400" dirty="0"/>
          </a:p>
        </p:txBody>
      </p:sp>
      <p:sp>
        <p:nvSpPr>
          <p:cNvPr id="8" name="Shape 6"/>
          <p:cNvSpPr/>
          <p:nvPr/>
        </p:nvSpPr>
        <p:spPr>
          <a:xfrm>
            <a:off x="3511550" y="2348229"/>
            <a:ext cx="2476500" cy="1628140"/>
          </a:xfrm>
          <a:prstGeom prst="roundRect">
            <a:avLst>
              <a:gd name="adj" fmla="val 5850"/>
            </a:avLst>
          </a:prstGeom>
          <a:noFill/>
          <a:ln w="12700">
            <a:solidFill>
              <a:srgbClr val="F0A04B"/>
            </a:solidFill>
            <a:prstDash val="solid"/>
          </a:ln>
        </p:spPr>
      </p:sp>
      <p:sp>
        <p:nvSpPr>
          <p:cNvPr id="9" name="Text 7"/>
          <p:cNvSpPr/>
          <p:nvPr/>
        </p:nvSpPr>
        <p:spPr>
          <a:xfrm>
            <a:off x="3769360" y="2555242"/>
            <a:ext cx="2019707"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A04B"/>
                </a:solidFill>
                <a:latin typeface="IBM Plex Mono" pitchFamily="49" charset="0"/>
                <a:ea typeface="IBM Plex Mono" pitchFamily="49" charset="-122"/>
                <a:cs typeface="IBM Plex Mono" pitchFamily="49" charset="-120"/>
              </a:rPr>
              <a:t>FIXED COSTS</a:t>
            </a:r>
            <a:endParaRPr lang="en-US" sz="1400" dirty="0"/>
          </a:p>
        </p:txBody>
      </p:sp>
      <p:sp>
        <p:nvSpPr>
          <p:cNvPr id="10" name="Text 8"/>
          <p:cNvSpPr/>
          <p:nvPr/>
        </p:nvSpPr>
        <p:spPr>
          <a:xfrm>
            <a:off x="3769360" y="2880364"/>
            <a:ext cx="2019707" cy="37592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4F2EC"/>
                </a:solidFill>
                <a:latin typeface="IBM Plex Sans" pitchFamily="34" charset="0"/>
                <a:ea typeface="IBM Plex Sans" pitchFamily="34" charset="-122"/>
                <a:cs typeface="IBM Plex Sans" pitchFamily="34" charset="-120"/>
              </a:rPr>
              <a:t>$194</a:t>
            </a:r>
            <a:endParaRPr lang="en-US" sz="2400" dirty="0"/>
          </a:p>
        </p:txBody>
      </p:sp>
      <p:sp>
        <p:nvSpPr>
          <p:cNvPr id="11" name="Text 9"/>
          <p:cNvSpPr/>
          <p:nvPr/>
        </p:nvSpPr>
        <p:spPr>
          <a:xfrm>
            <a:off x="3769360" y="3307079"/>
            <a:ext cx="2019707"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C6BD"/>
                </a:solidFill>
                <a:latin typeface="IBM Plex Sans" pitchFamily="34" charset="0"/>
                <a:ea typeface="IBM Plex Sans" pitchFamily="34" charset="-122"/>
                <a:cs typeface="IBM Plex Sans" pitchFamily="34" charset="-120"/>
              </a:rPr>
              <a:t>2 months × $97 infrastructure</a:t>
            </a:r>
            <a:endParaRPr lang="en-US" sz="1400" dirty="0"/>
          </a:p>
        </p:txBody>
      </p:sp>
      <p:sp>
        <p:nvSpPr>
          <p:cNvPr id="12" name="Shape 10"/>
          <p:cNvSpPr/>
          <p:nvPr/>
        </p:nvSpPr>
        <p:spPr>
          <a:xfrm>
            <a:off x="6203950" y="2348229"/>
            <a:ext cx="2476500" cy="1628140"/>
          </a:xfrm>
          <a:prstGeom prst="roundRect">
            <a:avLst>
              <a:gd name="adj" fmla="val 5850"/>
            </a:avLst>
          </a:prstGeom>
          <a:noFill/>
          <a:ln w="12700">
            <a:solidFill>
              <a:srgbClr val="F0A04B"/>
            </a:solidFill>
            <a:prstDash val="solid"/>
          </a:ln>
        </p:spPr>
      </p:sp>
      <p:sp>
        <p:nvSpPr>
          <p:cNvPr id="13" name="Text 11"/>
          <p:cNvSpPr/>
          <p:nvPr/>
        </p:nvSpPr>
        <p:spPr>
          <a:xfrm>
            <a:off x="6461760" y="2555242"/>
            <a:ext cx="2019707"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A04B"/>
                </a:solidFill>
                <a:latin typeface="IBM Plex Mono" pitchFamily="49" charset="0"/>
                <a:ea typeface="IBM Plex Mono" pitchFamily="49" charset="-122"/>
                <a:cs typeface="IBM Plex Mono" pitchFamily="49" charset="-120"/>
              </a:rPr>
              <a:t>RESERVE</a:t>
            </a:r>
            <a:endParaRPr lang="en-US" sz="1400" dirty="0"/>
          </a:p>
        </p:txBody>
      </p:sp>
      <p:sp>
        <p:nvSpPr>
          <p:cNvPr id="14" name="Text 12"/>
          <p:cNvSpPr/>
          <p:nvPr/>
        </p:nvSpPr>
        <p:spPr>
          <a:xfrm>
            <a:off x="6461760" y="2880364"/>
            <a:ext cx="2019707" cy="37592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4F2EC"/>
                </a:solidFill>
                <a:latin typeface="IBM Plex Sans" pitchFamily="34" charset="0"/>
                <a:ea typeface="IBM Plex Sans" pitchFamily="34" charset="-122"/>
                <a:cs typeface="IBM Plex Sans" pitchFamily="34" charset="-120"/>
              </a:rPr>
              <a:t>$26</a:t>
            </a:r>
            <a:endParaRPr lang="en-US" sz="2400" dirty="0"/>
          </a:p>
        </p:txBody>
      </p:sp>
      <p:sp>
        <p:nvSpPr>
          <p:cNvPr id="15" name="Text 13"/>
          <p:cNvSpPr/>
          <p:nvPr/>
        </p:nvSpPr>
        <p:spPr>
          <a:xfrm>
            <a:off x="6461760" y="3307079"/>
            <a:ext cx="2019707"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C6BD"/>
                </a:solidFill>
                <a:latin typeface="IBM Plex Sans" pitchFamily="34" charset="0"/>
                <a:ea typeface="IBM Plex Sans" pitchFamily="34" charset="-122"/>
                <a:cs typeface="IBM Plex Sans" pitchFamily="34" charset="-120"/>
              </a:rPr>
              <a:t>rounding $274 up to $300</a:t>
            </a:r>
            <a:endParaRPr lang="en-US" sz="1400" dirty="0"/>
          </a:p>
        </p:txBody>
      </p:sp>
      <p:sp>
        <p:nvSpPr>
          <p:cNvPr id="16" name="Shape 14"/>
          <p:cNvSpPr/>
          <p:nvPr/>
        </p:nvSpPr>
        <p:spPr>
          <a:xfrm>
            <a:off x="8896350" y="2348229"/>
            <a:ext cx="2476500" cy="1628140"/>
          </a:xfrm>
          <a:prstGeom prst="roundRect">
            <a:avLst>
              <a:gd name="adj" fmla="val 5850"/>
            </a:avLst>
          </a:prstGeom>
          <a:solidFill>
            <a:srgbClr val="F0A04B"/>
          </a:solidFill>
          <a:ln w="12700">
            <a:solidFill>
              <a:srgbClr val="F0A04B"/>
            </a:solidFill>
            <a:prstDash val="solid"/>
          </a:ln>
        </p:spPr>
      </p:sp>
      <p:sp>
        <p:nvSpPr>
          <p:cNvPr id="17" name="Text 15"/>
          <p:cNvSpPr/>
          <p:nvPr/>
        </p:nvSpPr>
        <p:spPr>
          <a:xfrm>
            <a:off x="9154160" y="2555242"/>
            <a:ext cx="2019707"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5181D"/>
                </a:solidFill>
                <a:latin typeface="IBM Plex Mono" pitchFamily="49" charset="0"/>
                <a:ea typeface="IBM Plex Mono" pitchFamily="49" charset="-122"/>
                <a:cs typeface="IBM Plex Mono" pitchFamily="49" charset="-120"/>
              </a:rPr>
              <a:t>TOTAL ASK</a:t>
            </a:r>
            <a:endParaRPr lang="en-US" sz="1400" dirty="0"/>
          </a:p>
        </p:txBody>
      </p:sp>
      <p:sp>
        <p:nvSpPr>
          <p:cNvPr id="18" name="Text 16"/>
          <p:cNvSpPr/>
          <p:nvPr/>
        </p:nvSpPr>
        <p:spPr>
          <a:xfrm>
            <a:off x="9154160" y="2880364"/>
            <a:ext cx="2019707" cy="37592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5181D"/>
                </a:solidFill>
                <a:latin typeface="IBM Plex Sans" pitchFamily="34" charset="0"/>
                <a:ea typeface="IBM Plex Sans" pitchFamily="34" charset="-122"/>
                <a:cs typeface="IBM Plex Sans" pitchFamily="34" charset="-120"/>
              </a:rPr>
              <a:t>$300</a:t>
            </a:r>
            <a:endParaRPr lang="en-US" sz="2400" dirty="0"/>
          </a:p>
        </p:txBody>
      </p:sp>
      <p:sp>
        <p:nvSpPr>
          <p:cNvPr id="19" name="Text 17"/>
          <p:cNvSpPr/>
          <p:nvPr/>
        </p:nvSpPr>
        <p:spPr>
          <a:xfrm>
            <a:off x="9154160" y="3307079"/>
            <a:ext cx="201970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5181D"/>
                </a:solidFill>
                <a:latin typeface="IBM Plex Sans" pitchFamily="34" charset="0"/>
                <a:ea typeface="IBM Plex Sans" pitchFamily="34" charset="-122"/>
                <a:cs typeface="IBM Plex Sans" pitchFamily="34" charset="-120"/>
              </a:rPr>
              <a:t>for the whole pilot</a:t>
            </a:r>
            <a:endParaRPr lang="en-US" sz="1400" dirty="0"/>
          </a:p>
        </p:txBody>
      </p:sp>
      <p:sp>
        <p:nvSpPr>
          <p:cNvPr id="20" name="Text 18"/>
          <p:cNvSpPr/>
          <p:nvPr/>
        </p:nvSpPr>
        <p:spPr>
          <a:xfrm>
            <a:off x="812800" y="4211321"/>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6BD"/>
                </a:solidFill>
                <a:latin typeface="IBM Plex Sans" pitchFamily="34" charset="0"/>
                <a:ea typeface="IBM Plex Sans" pitchFamily="34" charset="-122"/>
                <a:cs typeface="IBM Plex Sans" pitchFamily="34" charset="-120"/>
              </a:rPr>
              <a:t>The pilot turns our claims into measurements: pull requests per month, review time, current tools and spending, willingness to pay, and our own cost per review.</a:t>
            </a:r>
            <a:endParaRPr lang="en-US" sz="1500" dirty="0"/>
          </a:p>
        </p:txBody>
      </p:sp>
      <p:sp>
        <p:nvSpPr>
          <p:cNvPr id="21" name="Text 19"/>
          <p:cNvSpPr/>
          <p:nvPr/>
        </p:nvSpPr>
        <p:spPr>
          <a:xfrm>
            <a:off x="812800" y="4991100"/>
            <a:ext cx="988060"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8F98"/>
                </a:solidFill>
                <a:latin typeface="IBM Plex Mono" pitchFamily="49" charset="0"/>
                <a:ea typeface="IBM Plex Mono" pitchFamily="49" charset="-122"/>
                <a:cs typeface="IBM Plex Mono" pitchFamily="49" charset="-120"/>
              </a:rPr>
              <a:t>CONTACT</a:t>
            </a:r>
            <a:endParaRPr lang="en-US" sz="1400" dirty="0"/>
          </a:p>
        </p:txBody>
      </p:sp>
      <p:sp>
        <p:nvSpPr>
          <p:cNvPr id="22" name="Text 20"/>
          <p:cNvSpPr/>
          <p:nvPr/>
        </p:nvSpPr>
        <p:spPr>
          <a:xfrm>
            <a:off x="1800860" y="4973321"/>
            <a:ext cx="1038758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2EC"/>
                </a:solidFill>
                <a:latin typeface="IBM Plex Mono" pitchFamily="49" charset="0"/>
                <a:ea typeface="IBM Plex Mono" pitchFamily="49" charset="-122"/>
                <a:cs typeface="IBM Plex Mono" pitchFamily="49" charset="-120"/>
              </a:rPr>
              <a:t>mohammedgamal2002@gmail.com · github.com/MoKenawy/Pull-request-Reviewer</a:t>
            </a:r>
            <a:endParaRPr lang="en-US" sz="1600" dirty="0"/>
          </a:p>
        </p:txBody>
      </p:sp>
      <p:pic>
        <p:nvPicPr>
          <p:cNvPr id="23" name="Image 0" descr="Agentic Code Review logo, prototype">    </p:cNvPr>
          <p:cNvPicPr>
            <a:picLocks noChangeAspect="1"/>
          </p:cNvPicPr>
          <p:nvPr/>
        </p:nvPicPr>
        <p:blipFill>
          <a:blip r:embed="rId1"/>
          <a:srcRect l="0" r="0" t="0" b="0"/>
          <a:stretch/>
        </p:blipFill>
        <p:spPr>
          <a:xfrm>
            <a:off x="812800" y="6248400"/>
            <a:ext cx="254000" cy="254000"/>
          </a:xfrm>
          <a:prstGeom prst="rect">
            <a:avLst/>
          </a:prstGeom>
        </p:spPr>
      </p:pic>
      <p:sp>
        <p:nvSpPr>
          <p:cNvPr id="24" name="Text 21"/>
          <p:cNvSpPr/>
          <p:nvPr/>
        </p:nvSpPr>
        <p:spPr>
          <a:xfrm>
            <a:off x="1168400" y="6268721"/>
            <a:ext cx="57058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F98"/>
                </a:solidFill>
                <a:latin typeface="IBM Plex Mono" pitchFamily="49" charset="0"/>
                <a:ea typeface="IBM Plex Mono" pitchFamily="49" charset="-122"/>
                <a:cs typeface="IBM Plex Mono" pitchFamily="49" charset="-120"/>
              </a:rPr>
              <a:t>Agentic Code Review · Review that shows its evidence</a:t>
            </a:r>
            <a:endParaRPr lang="en-US" sz="1200" dirty="0"/>
          </a:p>
        </p:txBody>
      </p:sp>
    </p:spTree>
  </p:cSld>
  <p:clrMapOvr>
    <a:masterClrMapping/>
  </p:clrMapOvr>
</p:sld>
</file>

<file path=ppt/theme/theme1.xml><?xml version="1.0" encoding="utf-8"?>
<a:theme xmlns:a="http://schemas.openxmlformats.org/drawingml/2006/main" name="Agentic Code Review — Pitch">
  <a:themeElements>
    <a:clrScheme name="Agentic Code Review — Pitch">
      <a:dk1>
        <a:srgbClr val="15181D"/>
      </a:dk1>
      <a:lt1>
        <a:srgbClr val="F4F2EC"/>
      </a:lt1>
      <a:dk2>
        <a:srgbClr val="4D4F51"/>
      </a:dk2>
      <a:lt2>
        <a:srgbClr val="DEDCD7"/>
      </a:lt2>
      <a:accent1>
        <a:srgbClr val="1D7A4C"/>
      </a:accent1>
      <a:accent2>
        <a:srgbClr val="F0A04B"/>
      </a:accent2>
      <a:accent3>
        <a:srgbClr val="B4561A"/>
      </a:accent3>
      <a:accent4>
        <a:srgbClr val="5CC28E"/>
      </a:accent4>
      <a:accent5>
        <a:srgbClr val="5A3310"/>
      </a:accent5>
      <a:accent6>
        <a:srgbClr val="5D6470"/>
      </a:accent6>
      <a:hlink>
        <a:srgbClr val="0563C1"/>
      </a:hlink>
      <a:folHlink>
        <a:srgbClr val="954F72"/>
      </a:folHlink>
    </a:clrScheme>
    <a:fontScheme name="Agentic Code Review — Pitch">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Code Review — Pitch</dc:title>
  <dc:subject/>
  <dc:creator/>
  <cp:lastModifiedBy/>
  <cp:revision>1</cp:revision>
  <dcterms:created xsi:type="dcterms:W3CDTF">2026-10-14T15:22:08Z</dcterms:created>
  <dcterms:modified xsi:type="dcterms:W3CDTF">2026-10-14T15:22:08Z</dcterms:modified>
</cp:coreProperties>
</file>